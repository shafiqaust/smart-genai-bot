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57607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12801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12801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2801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28016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Smart Academic Assistant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6576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A Multi-Tool RAG System for Student Advising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1965960"/>
            <a:ext cx="1051560" cy="10515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Understanding</a:t>
            </a:r>
            <a:br/>
            <a:r>
              <a:t>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023360"/>
            <a:ext cx="114300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Student questions are messy</a:t>
            </a:r>
            <a:br/>
            <a:r>
              <a:t>and require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1965960"/>
            <a:ext cx="1051560" cy="10515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Processing</a:t>
            </a:r>
            <a:br/>
            <a:r>
              <a:t>Uploads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4023360"/>
            <a:ext cx="1143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PDFs, URLs, text — each</a:t>
            </a:r>
            <a:br/>
            <a:r>
              <a:t>needs different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6600" y="1965960"/>
            <a:ext cx="1051560" cy="10515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Accurate</a:t>
            </a:r>
            <a:br/>
            <a:r>
              <a:t>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4023360"/>
            <a:ext cx="11430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LLMs hallucinate — answers</a:t>
            </a:r>
            <a:br/>
            <a:r>
              <a:t>must be grounded in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66960" y="1965960"/>
            <a:ext cx="1051560" cy="105156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Clear</a:t>
            </a:r>
            <a:br/>
            <a:r>
              <a:t>Explanations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4023360"/>
            <a:ext cx="1143000" cy="27432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Correct AND clearly</a:t>
            </a:r>
            <a:br/>
            <a:r>
              <a:t>explained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Solution: LangGraph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60320" y="1280160"/>
            <a:ext cx="9235440" cy="502920"/>
          </a:xfrm>
          <a:prstGeom prst="roundRect">
            <a:avLst>
              <a:gd name="adj" fmla="val 8000"/>
            </a:avLst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D2FF"/>
                </a:solidFill>
              </a:defRPr>
            </a:pPr>
            <a:r>
              <a:t>🔀  Orchestrated by LangGraph — stateful graph controls the entire flow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926080"/>
            <a:ext cx="1188720" cy="1188720"/>
          </a:xfrm>
          <a:prstGeom prst="ellipse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Student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37360" y="3291840"/>
            <a:ext cx="731520" cy="36576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2011680"/>
            <a:ext cx="256032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91840" y="22402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Parse uploads</a:t>
            </a:r>
            <a:br/>
            <a:r>
              <a:t>Extract structured data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12080" y="3291840"/>
            <a:ext cx="731520" cy="36576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011680"/>
            <a:ext cx="256032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0" y="22402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Classify, retrieve</a:t>
            </a:r>
            <a:br/>
            <a:r>
              <a:t>Calculate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686800" y="3291840"/>
            <a:ext cx="731520" cy="3657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09760" y="2011680"/>
            <a:ext cx="228600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2011680"/>
            <a:ext cx="2286000" cy="64008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04120" y="2240280"/>
            <a:ext cx="1097280" cy="10972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Answer 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Grounded response</a:t>
            </a:r>
            <a:br/>
            <a:r>
              <a:t>via GPT-4.1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server.py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63FF"/>
                </a:solidFill>
              </a:defRPr>
            </a:pPr>
            <a:r>
              <a:t>LangGraph nodes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63FF"/>
                </a:solidFill>
              </a:defRPr>
            </a:pPr>
            <a:r>
              <a:t>LangGraph node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STAGE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5720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</a:defRPr>
            </a:pPr>
            <a:r>
              <a:t>Format-based routing — what you send determines how it's processed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548640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</a:defRPr>
            </a:pPr>
            <a:r>
              <a:t>URL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5486400"/>
            <a:ext cx="731520" cy="7315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PDF</a:t>
            </a:r>
          </a:p>
        </p:txBody>
      </p:sp>
      <p:sp>
        <p:nvSpPr>
          <p:cNvPr id="12" name="Oval 11"/>
          <p:cNvSpPr/>
          <p:nvPr/>
        </p:nvSpPr>
        <p:spPr>
          <a:xfrm>
            <a:off x="539496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Image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0" y="5486400"/>
            <a:ext cx="731520" cy="73152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</a:defRPr>
            </a:pPr>
            <a:r>
              <a:t>Text Paste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0" y="5486400"/>
            <a:ext cx="731520" cy="7315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</a:defRPr>
            </a:pPr>
            <a:r>
              <a:t>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URL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41148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catalog_rules.json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URL</a:t>
            </a:r>
            <a:br/>
            <a:r>
              <a:t>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Starts with</a:t>
            </a:r>
            <a:br/>
            <a:r>
              <a:t>http(s)://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Scrape</a:t>
            </a:r>
            <a:br/>
            <a:r>
              <a:t>Webpage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HTTP GET with</a:t>
            </a:r>
            <a:br/>
            <a:r>
              <a:t>browser headers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Strip tags,</a:t>
            </a:r>
            <a:br/>
            <a:r>
              <a:t>extract text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GPT-4.1</a:t>
            </a:r>
            <a:br/>
            <a:r>
              <a:t>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Structured output</a:t>
            </a:r>
            <a:br/>
            <a:r>
              <a:t>w/ JSON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to 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catalog_rules.json</a:t>
            </a:r>
            <a:br/>
            <a:r>
              <a:t>in extracted_data/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URL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💡  Real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https://catalogs.nmsu.edu/nmsu/</a:t>
            </a:r>
            <a:br/>
            <a:r>
              <a:t>  arts-sciences/computer-science/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{ "program_name": "Computer Science",</a:t>
            </a:r>
            <a:br/>
            <a:r>
              <a:t>  "required_credits": 120,</a:t>
            </a:r>
            <a:br/>
            <a:r>
              <a:t>  "minimum_cgpa_for_graduation": 2.0,</a:t>
            </a:r>
            <a:br/>
            <a:r>
              <a:t>  "tracks": [</a:t>
            </a:r>
            <a:br/>
            <a:r>
              <a:t>    {"track_name": "AI",</a:t>
            </a:r>
            <a:br/>
            <a:r>
              <a:t>     "required_credits": 15, "notes": "..."}],</a:t>
            </a:r>
            <a:br/>
            <a:r>
              <a:t>  "required_courses": [</a:t>
            </a:r>
            <a:br/>
            <a:r>
              <a:t>    {"course_name": "CS 172",</a:t>
            </a:r>
            <a:br/>
            <a:r>
              <a:t>     "credits": 4, "category": "Core"}],</a:t>
            </a:r>
            <a:br/>
            <a:r>
              <a:t>  "elective_credit_requirement": 12,</a:t>
            </a:r>
            <a:br/>
            <a:r>
              <a:t>  "exceptions_and_notes":</a:t>
            </a:r>
            <a:br/>
            <a:r>
              <a:t>    ["B.S. is ABET accredited"],</a:t>
            </a:r>
            <a:br/>
            <a:r>
              <a:t>  "source_url": "https://catalogs..."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PDF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File</a:t>
            </a:r>
            <a:br/>
            <a: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User uploads</a:t>
            </a:r>
            <a:br/>
            <a:r>
              <a:t>a PDF 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Temp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Write to temp</a:t>
            </a:r>
            <a:br/>
            <a:r>
              <a:t>directory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PDFReader</a:t>
            </a:r>
            <a:br/>
            <a:r>
              <a:t>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Extract raw text</a:t>
            </a:r>
            <a:br/>
            <a:r>
              <a:t>from PDF pages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GPT-4.1</a:t>
            </a:r>
            <a:br/>
            <a:r>
              <a:t>Parse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Structured output</a:t>
            </a:r>
            <a:br/>
            <a:r>
              <a:t>w/ JSON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to 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transcript_record.json</a:t>
            </a:r>
            <a:br/>
            <a:r>
              <a:t>in extracted_data/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PDF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Real Example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301752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transcript.pdf</a:t>
            </a:r>
            <a:br/>
            <a:r>
              <a:t>(uploaded)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"student_name": "Albert Smith",</a:t>
            </a:r>
            <a:br/>
            <a:r>
              <a:t>  "program": "Computer Science",</a:t>
            </a:r>
            <a:br/>
            <a:r>
              <a:t>  "completed_courses": [</a:t>
            </a:r>
            <a:br/>
            <a:r>
              <a:t>    {"course": "Chemistry",</a:t>
            </a:r>
            <a:br/>
            <a:r>
              <a:t>     "credits": 1, "grade": "A"},</a:t>
            </a:r>
            <a:br/>
            <a:r>
              <a:t>    {"course": "Calculus I",</a:t>
            </a:r>
            <a:br/>
            <a:r>
              <a:t>     "credits": 4, "grade": "B+"},</a:t>
            </a:r>
            <a:br/>
            <a:r>
              <a:t>    ... ]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Image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File</a:t>
            </a:r>
            <a:br/>
            <a: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User uploads</a:t>
            </a:r>
            <a:br/>
            <a:r>
              <a:t>an image 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17373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Base64</a:t>
            </a:r>
            <a:br/>
            <a:r>
              <a:t>Encode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Convert binary</a:t>
            </a:r>
            <a:br/>
            <a:r>
              <a:t>to base64 string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Build</a:t>
            </a:r>
            <a:br/>
            <a:r>
              <a:t>Data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Create data URI</a:t>
            </a:r>
            <a:br/>
            <a:r>
              <a:t>for API payload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GPT-4.1</a:t>
            </a:r>
            <a:br/>
            <a:r>
              <a:t>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Multimodal parse</a:t>
            </a:r>
            <a:br/>
            <a:r>
              <a:t>w/ JSON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0" y="17373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to 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transcript_record.json</a:t>
            </a:r>
            <a:br/>
            <a:r>
              <a:t>in extracted_data/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Image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Real Example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301752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🖼️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transcript_image.png</a:t>
            </a:r>
            <a:br/>
            <a:r>
              <a:t>(uploaded)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"student_name": "Albert Smith",</a:t>
            </a:r>
            <a:br/>
            <a:r>
              <a:t>  "program": "Computer Science",</a:t>
            </a:r>
            <a:br/>
            <a:r>
              <a:t>  "completed_courses": [</a:t>
            </a:r>
            <a:br/>
            <a:r>
              <a:t>    {"course": "Chemistry",</a:t>
            </a:r>
            <a:br/>
            <a:r>
              <a:t>     "credits": 1, "grade": "A"},</a:t>
            </a:r>
            <a:br/>
            <a:r>
              <a:t>    {"course": "Calculus I",</a:t>
            </a:r>
            <a:br/>
            <a:r>
              <a:t>     "credits": 4, "grade": "B+"},</a:t>
            </a:r>
            <a:br/>
            <a:r>
              <a:t>    ... ]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Long Text Paste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</a:defRPr>
            </a:pPr>
            <a:r>
              <a:t>🔍  Detection Heuristic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50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len(message) &gt; 300 characters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10896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82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Contains "\n" (newline)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84048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13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Treated as pasted transcript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Processing Flow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Raw Text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8660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0" y="256032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GPT-4.1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676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JSON Schema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4692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Save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Long Text Paste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3474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"Honors Eng 9: World Lit  A  1\nAlg II/Trig  A  2\nHonors Precalculus  A  1\n..."  (450 chars)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6928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466344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B71"/>
                </a:solidFill>
              </a:defRPr>
            </a:pPr>
            <a:r>
              <a:t>{ "student_name": "Albert Smith",</a:t>
            </a:r>
            <a:br/>
            <a:r>
              <a:t>  "program": null,</a:t>
            </a:r>
            <a:br/>
            <a:r>
              <a:t>  "completed_courses": [</a:t>
            </a:r>
            <a:br/>
            <a:r>
              <a:t>    {"course": "Honors Eng 9",</a:t>
            </a:r>
            <a:br/>
            <a:r>
              <a:t>     "credits": 1, "grade": "A"},</a:t>
            </a:r>
            <a:br/>
            <a:r>
              <a:t>    {"course": "Alg II/Trig",</a:t>
            </a:r>
            <a:br/>
            <a:r>
              <a:t>     "credits": 2, "grade": "A"},</a:t>
            </a:r>
            <a:br/>
            <a:r>
              <a:t>    ... ]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91440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53212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Design Note: Format heuristic, not content analysis.</a:t>
            </a:r>
            <a:br/>
            <a:r>
              <a:t>Any long message with newlines is treated as a transcript.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Short Text (Chat)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direct to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✅  What Qualifies?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41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 file attached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01752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81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NOT a URL (no http(s)://)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65760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21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≤ 300 chars OR no newlines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What Happens?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246888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Message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35240" y="2743200"/>
            <a:ext cx="64008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No extraction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Passed directly to</a:t>
            </a:r>
            <a:br/>
            <a:r>
              <a:t>LangGraph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Short Text —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8463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💬  Example Questions → Pipeline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AA"/>
                </a:solidFill>
              </a:defRPr>
            </a:pPr>
            <a: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What Happens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10058400" cy="18288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"What is my CGPA?"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09067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7880" y="312724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Runs CGPA calculator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"Courses for AI track?"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91363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97880" y="395020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RAG + catalog lookup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63440"/>
            <a:ext cx="548640" cy="5486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"Explain the MAP program"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73659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97880" y="477316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Searches RAG KB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486400"/>
            <a:ext cx="548640" cy="5486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"Hello!"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555955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897880" y="559612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General response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STAGE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572000"/>
            <a:ext cx="265176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</a:defRPr>
            </a:pPr>
            <a:r>
              <a:t>Linear LangGraph pipeline — all nodes run in sequence</a:t>
            </a:r>
          </a:p>
        </p:txBody>
      </p:sp>
      <p:sp>
        <p:nvSpPr>
          <p:cNvPr id="8" name="Oval 7"/>
          <p:cNvSpPr/>
          <p:nvPr/>
        </p:nvSpPr>
        <p:spPr>
          <a:xfrm>
            <a:off x="1920240" y="548640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</a:defRPr>
            </a:pPr>
            <a:r>
              <a:t>Load Context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5486400"/>
            <a:ext cx="731520" cy="7315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Classify Intent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Retrieve Docs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5486400"/>
            <a:ext cx="731520" cy="7315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</a:defRPr>
            </a:pPr>
            <a:r>
              <a:t>Calculate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load_context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loads structured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📂  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95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Reads catalog_rules.json from disk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529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Reads transcript_record.json from disk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10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These were saved during 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7673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Injects both into pipeline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50292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📋  catalog_rules.json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Program requirements, tracks, courses,</a:t>
            </a:r>
            <a:br/>
            <a:r>
              <a:t>graduation rules — from URL scraping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029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📄  transcript_record.json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Student name, program, completed courses</a:t>
            </a:r>
            <a:br/>
            <a:r>
              <a:t>with grades — from PDF/image/text upload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63440"/>
            <a:ext cx="10515600" cy="192024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66344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⚡  Output → Pipeline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578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...state,</a:t>
            </a:r>
            <a:br/>
            <a:r>
              <a:t>  "catalog_rules": { "program_name": "...", "required_credits": 120, "tracks": [...], ... },</a:t>
            </a:r>
            <a:br/>
            <a:r>
              <a:t>  "transcript_record": { "student_name": "...", "program": "...", "completed_courses": [...] }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classify_intent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keyword-based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</a:defRPr>
            </a:pPr>
            <a:r>
              <a:t>🧮  Calculation Keywords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"cgpa"  "gpa"  "credit"  "credits"</a:t>
            </a:r>
            <a:br/>
            <a:r>
              <a:t>"remaining"  "left"  "how many more"</a:t>
            </a:r>
            <a:br/>
            <a:r>
              <a:t>"graduate"  "eligible"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💡  Reasoning Keywords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"should i"  "which"  "recommend"</a:t>
            </a:r>
            <a:br/>
            <a:r>
              <a:t>"difference"  "compare"  "why"</a:t>
            </a:r>
            <a:br/>
            <a:r>
              <a:t>"advise"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5156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🔀  Routing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Both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46320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40680" y="4892040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RAG + calculators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76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Only calc 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527608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40680" y="5321808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5276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Skip RAG, run calculators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7058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Only reasoning 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5705856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40680" y="5751576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7058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RAG search, skip calculators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135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Neither match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6135624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440680" y="6181344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61356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RAG search, skip calculators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classify_intent —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50292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88AA"/>
                </a:solidFill>
              </a:defRPr>
            </a:pPr>
            <a: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AA"/>
                </a:solidFill>
              </a:defRPr>
            </a:pPr>
            <a:r>
              <a:t>Calc?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AA"/>
                </a:solidFill>
              </a:defRPr>
            </a:pPr>
            <a:r>
              <a:t>Reason?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AA"/>
                </a:solidFill>
              </a:defRPr>
            </a:pPr>
            <a:r>
              <a:t>Route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148840"/>
            <a:ext cx="9875520" cy="18288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"What is my CGPA?"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9572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"How many credits remaining?"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94436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"Should I take the AI track?"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49300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"Which courses should I take?"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4164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"Should I graduate now or take more credits?"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59028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"Explain the MAP program"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513892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"Hello!"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669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69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568756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retrieve_docs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0" y="41148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RAG semantic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91440" cy="7315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645920"/>
            <a:ext cx="502920" cy="50292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⏭️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Skipped entirely if route == "calculation" — returns empty chunks and citations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User's original</a:t>
            </a:r>
            <a:br/>
            <a:r>
              <a:t>question text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2316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9748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4612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OpenAI embeddings</a:t>
            </a:r>
            <a:br/>
            <a:r>
              <a:t>(default model)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5488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7784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Cosine</a:t>
            </a:r>
            <a:br/>
            <a:r>
              <a:t>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Compare against</a:t>
            </a:r>
            <a:br/>
            <a:r>
              <a:t>all doc chunks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660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956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Top 4</a:t>
            </a:r>
            <a:br/>
            <a: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similarity_top_k=4</a:t>
            </a:r>
            <a:br/>
            <a:r>
              <a:t>most relevant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1832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✂️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Extract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Text[:1200] +</a:t>
            </a:r>
            <a:br/>
            <a:r>
              <a:t>source filename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94960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39496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⚡ 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8521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"retrieved_chunks": ["chunk text up to 1200 chars...", ...]    "citations": ["file_name_1.txt", "file_name_2.pdf"]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RAG Knowledge Base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0" y="411480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built once at startup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🏗️  How the Index Is Built (build_index)</a:t>
            </a:r>
          </a:p>
        </p:txBody>
      </p:sp>
      <p:sp>
        <p:nvSpPr>
          <p:cNvPr id="7" name="Oval 6"/>
          <p:cNvSpPr/>
          <p:nvPr/>
        </p:nvSpPr>
        <p:spPr>
          <a:xfrm>
            <a:off x="123444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Scan</a:t>
            </a:r>
            <a:br/>
            <a:r>
              <a:t>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processed_data/</a:t>
            </a:r>
            <a:br/>
            <a:r>
              <a:t>.pdf .txt .md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3172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Read &amp;</a:t>
            </a:r>
            <a:br/>
            <a: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SimpleDirectoryReader</a:t>
            </a:r>
            <a:br/>
            <a:r>
              <a:t>+ PDFReader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4340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5780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✂️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Chunk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Split docs into</a:t>
            </a:r>
            <a:br/>
            <a:r>
              <a:t>smaller pieces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35508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6948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OpenAI embeddings</a:t>
            </a:r>
            <a:br/>
            <a:r>
              <a:t>for each chunk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6676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8116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In-memory</a:t>
            </a:r>
            <a:br/>
            <a:r>
              <a:t>vector index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14800"/>
            <a:ext cx="50292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297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📚  Contents (processed_data/)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864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Course lecture slides (CS 4440/5440)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276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Prompt engineering papers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687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Video lecture transcripts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6080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6099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AI/ML reference documents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114800"/>
            <a:ext cx="50292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297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🔑  Key Properties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864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Static — never modified by uploads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76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In-memory — rebuilt on each restart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687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similarity_top_k=4 per query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6080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✂️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6099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Chunks capped at 1200 chars each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calculate_tools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0" y="411480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phrase-matched calcs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47472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17830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CGPA 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474720"/>
            <a:ext cx="164592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657600"/>
            <a:ext cx="3200400" cy="822960"/>
          </a:xfrm>
          <a:prstGeom prst="roundRect">
            <a:avLst>
              <a:gd name="adj" fmla="val 4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63FF"/>
                </a:solidFill>
              </a:defRPr>
            </a:pPr>
            <a: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"my cgpa" / "my gpa"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For each course:</a:t>
            </a:r>
            <a:br/>
            <a:r>
              <a:t>  quality_pts = credits × grade_pts</a:t>
            </a:r>
            <a:br/>
            <a:r>
              <a:t>CGPA = total_quality / total_credits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47472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17830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Remaining Credits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474720"/>
            <a:ext cx="16459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3657600"/>
            <a:ext cx="3200400" cy="822960"/>
          </a:xfrm>
          <a:prstGeom prst="roundRect">
            <a:avLst>
              <a:gd name="adj" fmla="val 4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</a:defRPr>
            </a:pPr>
            <a:r>
              <a:t>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"remaining credits" / "credits left"</a:t>
            </a:r>
            <a:br/>
            <a:r>
              <a:t>/ "how many more credits"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remaining = required_credits</a:t>
            </a:r>
            <a:br/>
            <a:r>
              <a:t>  - sum(completed credits)</a:t>
            </a:r>
            <a:br/>
            <a:r>
              <a:t>Uses catalog_rules.required_credits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55448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554480"/>
            <a:ext cx="347472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0" y="178308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Graduation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3474720"/>
            <a:ext cx="164592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20" y="3657600"/>
            <a:ext cx="3200400" cy="822960"/>
          </a:xfrm>
          <a:prstGeom prst="roundRect">
            <a:avLst>
              <a:gd name="adj" fmla="val 4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</a:defRPr>
            </a:pPr>
            <a:r>
              <a:t>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"can i graduate" /</a:t>
            </a:r>
            <a:br/>
            <a:r>
              <a:t>"am i eligible to graduate"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Checks: remaining_credits &lt;= 0</a:t>
            </a:r>
            <a:br/>
            <a:r>
              <a:t>  AND cgpa &gt;= minimum_cgpa</a:t>
            </a:r>
            <a:br/>
            <a:r>
              <a:t>Returns eligible: true/false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calculate_tools — Output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15544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🧮  CGPA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{ "type": "cgpa", "total_credits": 45.0, "total_quality_points": 162.0, "cgpa": 3.6,</a:t>
            </a:r>
            <a:br/>
            <a:r>
              <a:t>  "breakdown": [{"course": "Chemistry", "credits": 1, "grade": "A", "grade_points": 4.0, "quality_points": 4.0}, ...]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05156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📊  Remaining Credits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"type": "remaining_credits", "completed_credits": 45.0, "required_credits": 120.0, "remaining_credits": 75.0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515600" cy="15544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105156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🎓  Graduation Status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778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"type": "graduation_status", "cgpa": 3.6, "minimum_cgpa_for_graduation": 2.0,</a:t>
            </a:r>
            <a:br/>
            <a:r>
              <a:t>  "completed_credits": 45.0, "required_credits": 120.0, "remaining_credits": 75.0, "eligible": false 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Two Separate Data Stores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51760" y="17830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Vector Index (RAG KB)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474720"/>
            <a:ext cx="25603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21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Built from processed_data/ at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78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Course lectures, papers, transcripts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636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Embedded via OpenAI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932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Queried by semantic similarity (top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550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Static — uploads don't modify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6007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In-memory — rebuilt on each restart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554480"/>
            <a:ext cx="512064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0" y="17830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Structured 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474720"/>
            <a:ext cx="256032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721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catalog_rules.json — from URLs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178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transcript_record.json — from uploads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636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Extracted at runtime by GPT-4.1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♻️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0932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Overwritten each time (single-user)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550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Used by: calculators + answer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6007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Persisted in extracted_data/ dir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Stage 3: Answer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0020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RAG Chunks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Semantic search</a:t>
            </a:r>
            <a:br/>
            <a:r>
              <a:t>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56032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60020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Catalog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Program rules</a:t>
            </a:r>
            <a:br/>
            <a:r>
              <a:t>&amp;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160020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Student record</a:t>
            </a:r>
            <a:br/>
            <a:r>
              <a:t>&amp; grades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463040"/>
            <a:ext cx="256032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66960" y="160020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Calc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CGPA, credits,</a:t>
            </a:r>
            <a:br/>
            <a:r>
              <a:t>grad status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28016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416052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992124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206240"/>
            <a:ext cx="9418320" cy="128016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4343400"/>
            <a:ext cx="1005840" cy="100584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FF"/>
                </a:solidFill>
              </a:defRPr>
            </a:pPr>
            <a:r>
              <a:t>Assembles all context into one prompt → generates grounded, accurate response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852160" y="5532120"/>
            <a:ext cx="274320" cy="457200"/>
          </a:xfrm>
          <a:prstGeom prst="down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603504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✨  Student gets a grounded, accurate answer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8686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72768"/>
            <a:ext cx="640080" cy="6400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Controls multi-stage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91440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624328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97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GPT-4.1 (OpenAI)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97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Extraction &amp; answer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9144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3675888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49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03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Vector Index +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749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Retrieves knowledge chunks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617720"/>
            <a:ext cx="91440" cy="86868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4727448"/>
            <a:ext cx="640080" cy="6400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800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00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REST API for uploads &amp;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8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669280"/>
            <a:ext cx="91440" cy="8686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7280" y="5779008"/>
            <a:ext cx="640080" cy="6400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🖥️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52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806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Web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852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Chat UI for student interaction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Key Design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80" y="164592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LangGraph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Stateful graph runs nodes</a:t>
            </a:r>
            <a:br/>
            <a:r>
              <a:t>in sequence with shared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23560" y="164592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Format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Input type determines path</a:t>
            </a:r>
            <a:br/>
            <a:r>
              <a:t>No content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64040" y="164592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Keyword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Substring matching</a:t>
            </a:r>
            <a:br/>
            <a:r>
              <a:t>Not LLM-based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83080" y="425196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Static RAG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Built once at startup</a:t>
            </a:r>
            <a:br/>
            <a:r>
              <a:t>Uploads don't extend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23560" y="4251960"/>
            <a:ext cx="1005840" cy="10058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Single-User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One transcript + catalog</a:t>
            </a:r>
            <a:br/>
            <a:r>
              <a:t>Each upload overwrites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64040" y="425196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Grounded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RAG + structured data</a:t>
            </a:r>
            <a:br/>
            <a:r>
              <a:t>+ calcs = less hallucination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-4572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66360" y="118872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1148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Smart Academic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AA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