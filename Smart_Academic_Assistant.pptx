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7607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12801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2801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2801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Smart Academic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6576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A Multi-Tool RAG System for Student Advising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6596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Understanding</a:t>
            </a:r>
            <a:br/>
            <a:r>
              <a:t>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023360"/>
            <a:ext cx="11430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Student questions are messy</a:t>
            </a:r>
            <a:br/>
            <a:r>
              <a:t>and require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1143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PDFs, URLs, text — each</a:t>
            </a:r>
            <a:br/>
            <a:r>
              <a:t>needs different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96596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Accurate</a:t>
            </a:r>
            <a:br/>
            <a:r>
              <a:t>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023360"/>
            <a:ext cx="11430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LLMs hallucinate — answers</a:t>
            </a:r>
            <a:br/>
            <a:r>
              <a:t>must be grounded in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6596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Clear</a:t>
            </a:r>
            <a:br/>
            <a:r>
              <a:t>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4023360"/>
            <a:ext cx="114300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Correct AND clearly</a:t>
            </a:r>
            <a:br/>
            <a:r>
              <a:t>explained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Solution: Multi-Tool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37360" y="3291840"/>
            <a:ext cx="731520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2011680"/>
            <a:ext cx="25603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22402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Parse uploads</a:t>
            </a:r>
            <a:br/>
            <a:r>
              <a:t>Extract structured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3291840"/>
            <a:ext cx="731520" cy="36576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25603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0" y="22402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Classify, retrieve</a:t>
            </a:r>
            <a:br/>
            <a:r>
              <a:t>Calculate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329184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201168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228600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4120" y="224028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Answer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Grounded response</a:t>
            </a:r>
            <a:br/>
            <a:r>
              <a:t>via GPT-4.1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server.py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Format-based routing — what you send determines how it's processed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URL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PDF / Image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Text Paste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4114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catalog_rules.json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URL</a:t>
            </a:r>
            <a:br/>
            <a:r>
              <a:t>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Starts with</a:t>
            </a:r>
            <a:br/>
            <a:r>
              <a:t>http(s)://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</a:t>
            </a:r>
            <a:br/>
            <a:r>
              <a:t>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HTTP GET with</a:t>
            </a:r>
            <a:br/>
            <a:r>
              <a:t>browser headers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Strip tags,</a:t>
            </a:r>
            <a:br/>
            <a:r>
              <a:t>extract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catalog_rules.json</a:t>
            </a:r>
            <a:br/>
            <a:r>
              <a:t>in extracted_data/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57200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💡  Real Example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20640"/>
            <a:ext cx="4389120" cy="1188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166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406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https://catalogs.nmsu.edu/nmsu/</a:t>
            </a:r>
            <a:br/>
            <a:r>
              <a:t>  arts-sciences/computer-science/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486400" y="548640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7920" y="5120640"/>
            <a:ext cx="4846320" cy="1188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166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406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"program_name": "Computer Science (NMSU)",</a:t>
            </a:r>
            <a:br/>
            <a:r>
              <a:t>  "tracks": ["AI", "Cybersecurity", ...],</a:t>
            </a:r>
            <a:br/>
            <a:r>
              <a:t>  "exceptions_and_notes": ["B.S. is ABET accredited", ...]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1188720" cy="1188720"/>
          </a:xfrm>
          <a:prstGeom prst="ellipse">
            <a:avLst/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File Upload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1965960"/>
            <a:ext cx="5486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86868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PDF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temp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PDFReader</a:t>
            </a:r>
            <a:br/>
            <a:r>
              <a:t>extract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1228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parse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1540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24612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246120"/>
            <a:ext cx="86868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🖼️  Image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Base64</a:t>
            </a:r>
            <a:br/>
            <a:r>
              <a:t>encode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0916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Build</a:t>
            </a:r>
            <a:br/>
            <a:r>
              <a:t>data URL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vision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28" name="Oval 27"/>
          <p:cNvSpPr/>
          <p:nvPr/>
        </p:nvSpPr>
        <p:spPr>
          <a:xfrm>
            <a:off x="2103120" y="288036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12064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230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623560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6509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897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transcript_image.png  (uploaded)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297680" y="5852160"/>
            <a:ext cx="548640" cy="22860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0" y="5623560"/>
            <a:ext cx="5943600" cy="77724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5650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897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"student_name": "Albert Smith", "completed_courses": [{"course": "Chemistry", "credits": 1, "grade": "A"}, ...]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t>🔍  Detection Heuristic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len(message) &gt; 300 characters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10896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82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Contains "\n" (newline)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40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Treated as pasted 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Processing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Raw 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GPT-4.1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JSON Schema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4692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Save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0749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07492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</a:defRPr>
            </a:pPr>
            <a:r>
              <a:t>💡  Example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468112"/>
            <a:ext cx="4572000" cy="41148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86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"Honors Eng 9: World Lit  A  1\nAlg II/Trig  A  2\nHonors Precalculus  A  1\n..."  (450 chars)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623560" y="5504688"/>
            <a:ext cx="457200" cy="201168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5468112"/>
            <a:ext cx="4846320" cy="41148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B71"/>
                </a:solidFill>
              </a:defRPr>
            </a:pPr>
            <a:r>
              <a:t>→ { "student_name": "Albert Smith", "completed_courses": [...] 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08076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6080760"/>
            <a:ext cx="9144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1560" y="6144768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614476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Design Note: Format heuristic, not content analysis. Any long message with newlines is treated as a transcript.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(Chat)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direct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✅  What Qualifies?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1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file attached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NOT a URL (no http(s)://)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≤ 300 chars OR no newlines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What Happens?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No extraction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Passed directly to</a:t>
            </a:r>
            <a:br/>
            <a:r>
              <a:t>LangGraph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10515600" cy="21031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💬  Example Questions → Pipeline Route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029200"/>
            <a:ext cx="320040" cy="3200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47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047488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120640" y="5074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5047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Runs CGPA calculator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394960"/>
            <a:ext cx="320040" cy="3200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413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"Courses for AI track?"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5413248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120640" y="544068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5413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RAG + catalog lookup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76072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779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5779008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120640" y="580644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5779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Searches RAG KB</a:t>
            </a:r>
          </a:p>
        </p:txBody>
      </p:sp>
      <p:sp>
        <p:nvSpPr>
          <p:cNvPr id="37" name="Oval 36"/>
          <p:cNvSpPr/>
          <p:nvPr/>
        </p:nvSpPr>
        <p:spPr>
          <a:xfrm>
            <a:off x="914400" y="6126480"/>
            <a:ext cx="320040" cy="3200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6144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6144768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120640" y="617220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6144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General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2: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Linear LangGraph pipeline — all nodes run in sequence, routing changes behavior inside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060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33172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load_context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23360"/>
            <a:ext cx="132588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Loads catalog JSON</a:t>
            </a:r>
            <a:br/>
            <a:r>
              <a:t>+ transcript JSON</a:t>
            </a:r>
            <a:br/>
            <a:r>
              <a:t>from disk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6060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233172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classify_intent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4023360"/>
            <a:ext cx="132588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Keyword matching:</a:t>
            </a:r>
            <a:br/>
            <a:r>
              <a:t>calculation | reasoning</a:t>
            </a:r>
            <a:br/>
            <a:r>
              <a:t>retrieval | 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260604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233172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retrieve_docs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023360"/>
            <a:ext cx="1325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over vector index</a:t>
            </a:r>
            <a:br/>
            <a:r>
              <a:t>(RAG knowledge base)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968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103120"/>
            <a:ext cx="260604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21240" y="233172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calculate_tools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4023360"/>
            <a:ext cx="132588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CGPA calculator</a:t>
            </a:r>
            <a:br/>
            <a:r>
              <a:t>Remaining credits</a:t>
            </a:r>
            <a:br/>
            <a:r>
              <a:t>Graduation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Two Separate 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Vector Index (RAG KB)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74720"/>
            <a:ext cx="25603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Built from processed_data/ at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24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Contains general reference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Queried by semantic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Static — uploads don't modify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715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733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Used by: retrieve_docs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54480"/>
            <a:ext cx="51206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Structured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474720"/>
            <a:ext cx="25603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catalog_rules.json — from URLs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24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transcript_record.json — from uploads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709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Extracted at runtime by GPT-4.1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♻️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Overwritten each time (single-user)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15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733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Used by: calculators + answer prompt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3: Answer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0020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Catalog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Program rules</a:t>
            </a:r>
            <a:br/>
            <a:r>
              <a:t>&amp;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Student record</a:t>
            </a:r>
            <a:br/>
            <a:r>
              <a:t>&amp; 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63040"/>
            <a:ext cx="25603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60020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8016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416052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2124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05840" cy="100584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FF"/>
                </a:solidFill>
              </a:defRPr>
            </a:pPr>
            <a:r>
              <a:t>Assembles all context into one prompt → generates grounded, accurate response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52160" y="5532120"/>
            <a:ext cx="274320" cy="457200"/>
          </a:xfrm>
          <a:prstGeom prst="down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60350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 Student gets a grounded, accurate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72768"/>
            <a:ext cx="640080" cy="640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Controls multi-stage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GPT-4.1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Extraction &amp; answer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9144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675888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Vector Index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Retrieves knowledge chunks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8686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27448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REST API for uploads &amp;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914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5779008"/>
            <a:ext cx="640080" cy="6400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52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852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Chat UI for student interaction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Key Design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64592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Linear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All nodes run in sequence</a:t>
            </a:r>
            <a:br/>
            <a:r>
              <a:t>Routing changes behavior inside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60" y="164592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Format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Input type determines path</a:t>
            </a:r>
            <a:br/>
            <a:r>
              <a:t>No content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Substring matching</a:t>
            </a:r>
            <a:br/>
            <a:r>
              <a:t>Not LLM-based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425196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Static RAG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Built once at startup</a:t>
            </a:r>
            <a:br/>
            <a:r>
              <a:t>Uploads don't extend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4251960"/>
            <a:ext cx="1005840" cy="10058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Single-User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One transcript + catalog</a:t>
            </a:r>
            <a:br/>
            <a:r>
              <a:t>Each upload overwrites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Grounded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RAG + structured data</a:t>
            </a:r>
            <a:br/>
            <a:r>
              <a:t>+ calcs = less hallucination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4572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Smart Academic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