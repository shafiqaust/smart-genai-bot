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274320" y="-2743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1247120" y="576072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840480" y="12801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Oval 5"/>
          <p:cNvSpPr/>
          <p:nvPr/>
        </p:nvSpPr>
        <p:spPr>
          <a:xfrm>
            <a:off x="5120640" y="12801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7" name="Oval 6"/>
          <p:cNvSpPr/>
          <p:nvPr/>
        </p:nvSpPr>
        <p:spPr>
          <a:xfrm>
            <a:off x="6400800" y="128016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8" name="Oval 7"/>
          <p:cNvSpPr/>
          <p:nvPr/>
        </p:nvSpPr>
        <p:spPr>
          <a:xfrm>
            <a:off x="7680960" y="128016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25603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Smart Academic Assistant</a:t>
            </a:r>
          </a:p>
        </p:txBody>
      </p:sp>
      <p:sp>
        <p:nvSpPr>
          <p:cNvPr id="10" name="Rectangle 9"/>
          <p:cNvSpPr/>
          <p:nvPr/>
        </p:nvSpPr>
        <p:spPr>
          <a:xfrm>
            <a:off x="4754880" y="36576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71600" y="393192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A Multi-Tool RAG System for Student Advising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20040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9224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RAG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38160" y="5029200"/>
            <a:ext cx="1371600" cy="45720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The Problem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325880" y="1965960"/>
            <a:ext cx="1051560" cy="10515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Understanding</a:t>
            </a:r>
            <a:br/>
            <a:r>
              <a:t>Language</a:t>
            </a:r>
          </a:p>
        </p:txBody>
      </p:sp>
      <p:sp>
        <p:nvSpPr>
          <p:cNvPr id="7" name="Rectangle 6"/>
          <p:cNvSpPr/>
          <p:nvPr/>
        </p:nvSpPr>
        <p:spPr>
          <a:xfrm>
            <a:off x="1280160" y="4023360"/>
            <a:ext cx="114300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Student questions are messy</a:t>
            </a:r>
            <a:br/>
            <a:r>
              <a:t>and require reasoning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206240" y="1965960"/>
            <a:ext cx="1051560" cy="10515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6616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Processing</a:t>
            </a:r>
            <a:br/>
            <a:r>
              <a:t>Uploads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160520" y="4023360"/>
            <a:ext cx="114300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6616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PDFs, URLs, text — each</a:t>
            </a:r>
            <a:br/>
            <a:r>
              <a:t>needs different handling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086600" y="1965960"/>
            <a:ext cx="1051560" cy="105156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Accurate</a:t>
            </a:r>
            <a:br/>
            <a:r>
              <a:t>Knowledge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040880" y="4023360"/>
            <a:ext cx="114300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4652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LLMs hallucinate — answers</a:t>
            </a:r>
            <a:br/>
            <a:r>
              <a:t>must be grounded in data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645920"/>
            <a:ext cx="2606040" cy="4389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9966960" y="1965960"/>
            <a:ext cx="1051560" cy="105156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💡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326880" y="3200400"/>
            <a:ext cx="2331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Clear</a:t>
            </a:r>
            <a:br/>
            <a:r>
              <a:t>Explanations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921240" y="4023360"/>
            <a:ext cx="1143000" cy="27432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26880" y="4206240"/>
            <a:ext cx="23317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0">
                <a:solidFill>
                  <a:srgbClr val="BBBBCC"/>
                </a:solidFill>
              </a:defRPr>
            </a:pPr>
            <a:r>
              <a:t>Correct AND clearly</a:t>
            </a:r>
            <a:br/>
            <a:r>
              <a:t>explained answers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Solution: Multi-Tool Pipeline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457200" y="2926080"/>
            <a:ext cx="1188720" cy="1188720"/>
          </a:xfrm>
          <a:prstGeom prst="ellipse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42062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Student</a:t>
            </a:r>
          </a:p>
        </p:txBody>
      </p:sp>
      <p:sp>
        <p:nvSpPr>
          <p:cNvPr id="6" name="Right Arrow 5"/>
          <p:cNvSpPr/>
          <p:nvPr/>
        </p:nvSpPr>
        <p:spPr>
          <a:xfrm>
            <a:off x="1737360" y="3291840"/>
            <a:ext cx="731520" cy="36576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56032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60320" y="2011680"/>
            <a:ext cx="25603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91840" y="22402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65176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Parse uploads</a:t>
            </a:r>
            <a:br/>
            <a:r>
              <a:t>Extract structured data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5212080" y="3291840"/>
            <a:ext cx="731520" cy="36576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6035040" y="2011680"/>
            <a:ext cx="256032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35040" y="2011680"/>
            <a:ext cx="25603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766560" y="22402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26480" y="34747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126480" y="393192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Classify, retrieve</a:t>
            </a:r>
            <a:br/>
            <a:r>
              <a:t>Calculate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8686800" y="3291840"/>
            <a:ext cx="731520" cy="36576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9509760" y="2011680"/>
            <a:ext cx="2286000" cy="29260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509760" y="2011680"/>
            <a:ext cx="2286000" cy="64008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10104120" y="2240280"/>
            <a:ext cx="1097280" cy="10972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600" b="1">
                <a:solidFill>
                  <a:srgbClr val="FFFFFF"/>
                </a:solidFill>
              </a:defRPr>
            </a:pPr>
            <a:r>
              <a:t>✨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0" y="347472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Answer Gen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601200" y="3931920"/>
            <a:ext cx="2103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Grounded response</a:t>
            </a:r>
            <a:br/>
            <a:r>
              <a:t>via GPT-4.1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65176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server.py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126480" y="502920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0" y="502920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rag_bot.py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STAGE 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Input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Format-based routing — what you send determines how it's processed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URL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PDF / Image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Text Paste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Chat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029200" y="411480"/>
            <a:ext cx="22860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catalog_rules.json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6576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91440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URL</a:t>
            </a:r>
            <a:br/>
            <a:r>
              <a:t>Detected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Starts with</a:t>
            </a:r>
            <a:br/>
            <a:r>
              <a:t>http(s)://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2316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69748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🌐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Scrape</a:t>
            </a:r>
            <a:br/>
            <a:r>
              <a:t>Webpage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HTTP GET with</a:t>
            </a:r>
            <a:br/>
            <a:r>
              <a:t>browser headers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75488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502920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57784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Clean</a:t>
            </a:r>
            <a:br/>
            <a:r>
              <a:t>HTML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2064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Strip tags,</a:t>
            </a:r>
            <a:br/>
            <a:r>
              <a:t>extract text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08660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736092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909560" y="1737360"/>
            <a:ext cx="914400" cy="9144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5236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GPT-4.1</a:t>
            </a:r>
            <a:br/>
            <a:r>
              <a:t>Extract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5236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Structured output</a:t>
            </a:r>
            <a:br/>
            <a:r>
              <a:t>w/ JSON schema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18320" y="2606040"/>
            <a:ext cx="3200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692640" y="1554480"/>
            <a:ext cx="201168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0241280" y="1737360"/>
            <a:ext cx="914400" cy="9144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784080" y="27889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Save</a:t>
            </a:r>
            <a:br/>
            <a:r>
              <a:t>to Disk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84080" y="333756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catalog_rules.json</a:t>
            </a:r>
            <a:br/>
            <a:r>
              <a:t>in extracted_data/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URL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💡  Real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40233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https://catalogs.nmsu.edu/nmsu/</a:t>
            </a:r>
            <a:br/>
            <a:r>
              <a:t>  arts-sciences/computer-science/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2926080"/>
            <a:ext cx="44805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"program_name": "Computer Science",</a:t>
            </a:r>
            <a:br/>
            <a:r>
              <a:t>  "required_credits": 120,</a:t>
            </a:r>
            <a:br/>
            <a:r>
              <a:t>  "minimum_cgpa_for_graduation": 2.0,</a:t>
            </a:r>
            <a:br/>
            <a:r>
              <a:t>  "tracks": [</a:t>
            </a:r>
            <a:br/>
            <a:r>
              <a:t>    {"track_name": "AI",</a:t>
            </a:r>
            <a:br/>
            <a:r>
              <a:t>     "required_credits": 15, "notes": "..."}],</a:t>
            </a:r>
            <a:br/>
            <a:r>
              <a:t>  "required_courses": [</a:t>
            </a:r>
            <a:br/>
            <a:r>
              <a:t>    {"course_name": "CS 172",</a:t>
            </a:r>
            <a:br/>
            <a:r>
              <a:t>     "credits": 4, "category": "Core"}],</a:t>
            </a:r>
            <a:br/>
            <a:r>
              <a:t>  "elective_credit_requirement": 12,</a:t>
            </a:r>
            <a:br/>
            <a:r>
              <a:t>  "exceptions_and_notes":</a:t>
            </a:r>
            <a:br/>
            <a:r>
              <a:t>    ["B.S. is ABET accredited"],</a:t>
            </a:r>
            <a:br/>
            <a:r>
              <a:t>  "source_url": "https://catalogs..." 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/ Image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66928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731520" y="1554480"/>
            <a:ext cx="1188720" cy="1188720"/>
          </a:xfrm>
          <a:prstGeom prst="ellipse">
            <a:avLst/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t>📎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788920"/>
            <a:ext cx="1737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File Upload</a:t>
            </a:r>
          </a:p>
        </p:txBody>
      </p:sp>
      <p:sp>
        <p:nvSpPr>
          <p:cNvPr id="7" name="Right Arrow 6"/>
          <p:cNvSpPr/>
          <p:nvPr/>
        </p:nvSpPr>
        <p:spPr>
          <a:xfrm>
            <a:off x="2011680" y="1965960"/>
            <a:ext cx="54864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2743200" y="137160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2743200" y="1371600"/>
            <a:ext cx="86868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017520" y="146304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📄  PDF Path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01752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temp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70916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512064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PDFReader</a:t>
            </a:r>
            <a:br/>
            <a:r>
              <a:t>extract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681228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722376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parse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8915400" y="2194560"/>
            <a:ext cx="320040" cy="182880"/>
          </a:xfrm>
          <a:prstGeom prst="rightArrow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326880" y="196596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743200" y="3246120"/>
            <a:ext cx="8686800" cy="16459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2743200" y="3246120"/>
            <a:ext cx="86868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17520" y="33375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🖼️  Image Path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Base64</a:t>
            </a:r>
            <a:br/>
            <a:r>
              <a:t>encode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470916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12064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Build</a:t>
            </a:r>
            <a:br/>
            <a:r>
              <a:t>data URL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681228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722376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GPT-4.1</a:t>
            </a:r>
            <a:br/>
            <a:r>
              <a:t>vision</a:t>
            </a:r>
          </a:p>
        </p:txBody>
      </p:sp>
      <p:sp>
        <p:nvSpPr>
          <p:cNvPr id="26" name="Right Arrow 25"/>
          <p:cNvSpPr/>
          <p:nvPr/>
        </p:nvSpPr>
        <p:spPr>
          <a:xfrm>
            <a:off x="8915400" y="4069080"/>
            <a:ext cx="320040" cy="182880"/>
          </a:xfrm>
          <a:prstGeom prst="rightArrow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9326880" y="3840480"/>
            <a:ext cx="1645920" cy="777240"/>
          </a:xfrm>
          <a:prstGeom prst="roundRect">
            <a:avLst>
              <a:gd name="adj" fmla="val 6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BBBBCC"/>
                </a:solidFill>
              </a:defRPr>
            </a:pPr>
            <a:r>
              <a:t>Save</a:t>
            </a:r>
            <a:br/>
            <a:r>
              <a:t>JSON</a:t>
            </a:r>
          </a:p>
        </p:txBody>
      </p:sp>
      <p:sp>
        <p:nvSpPr>
          <p:cNvPr id="28" name="Oval 27"/>
          <p:cNvSpPr/>
          <p:nvPr/>
        </p:nvSpPr>
        <p:spPr>
          <a:xfrm>
            <a:off x="2103120" y="2880360"/>
            <a:ext cx="548640" cy="5486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OR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PDF / Image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5720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Real Example Output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38912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Oval 8"/>
          <p:cNvSpPr/>
          <p:nvPr/>
        </p:nvSpPr>
        <p:spPr>
          <a:xfrm>
            <a:off x="1645920" y="301752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🖼️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1546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transcript_image.png</a:t>
            </a:r>
            <a:br/>
            <a:r>
              <a:t>(uploaded)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548640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217920" y="2377440"/>
            <a:ext cx="4846320" cy="347472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926080"/>
            <a:ext cx="448056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"student_name": "Albert Smith",</a:t>
            </a:r>
            <a:br/>
            <a:r>
              <a:t>  "program": "Computer Science",</a:t>
            </a:r>
            <a:br/>
            <a:r>
              <a:t>  "completed_courses": [</a:t>
            </a:r>
            <a:br/>
            <a:r>
              <a:t>    {"course": "Chemistry",</a:t>
            </a:r>
            <a:br/>
            <a:r>
              <a:t>     "credits": 1, "grade": "A"},</a:t>
            </a:r>
            <a:br/>
            <a:r>
              <a:t>    {"course": "Calculus I",</a:t>
            </a:r>
            <a:br/>
            <a:r>
              <a:t>     "credits": 4, "grade": "B+"},</a:t>
            </a:r>
            <a:br/>
            <a:r>
              <a:t>    ... ] }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92608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transcript_record.json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FF6B6B"/>
                </a:solidFill>
              </a:defRPr>
            </a:pPr>
            <a:r>
              <a:t>🔍  Detection Heuristic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920240" y="245059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len(message) &gt; 300 characters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108960"/>
            <a:ext cx="502920" cy="5029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✅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920240" y="318211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Contains "\n" (newline)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840480"/>
            <a:ext cx="502920" cy="5029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20240" y="3913632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Treated as pasted transcript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32004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Processing Flow</a:t>
            </a:r>
          </a:p>
        </p:txBody>
      </p:sp>
      <p:sp>
        <p:nvSpPr>
          <p:cNvPr id="15" name="Oval 14"/>
          <p:cNvSpPr/>
          <p:nvPr/>
        </p:nvSpPr>
        <p:spPr>
          <a:xfrm>
            <a:off x="621792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08076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Raw Text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08660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498080" y="2560320"/>
            <a:ext cx="822960" cy="82296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6092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GPT-4.1</a:t>
            </a:r>
          </a:p>
        </p:txBody>
      </p:sp>
      <p:sp>
        <p:nvSpPr>
          <p:cNvPr id="20" name="Right Arrow 19"/>
          <p:cNvSpPr/>
          <p:nvPr/>
        </p:nvSpPr>
        <p:spPr>
          <a:xfrm>
            <a:off x="836676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77824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4108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JSON Schema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9646920" y="2788920"/>
            <a:ext cx="32004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58400" y="2560320"/>
            <a:ext cx="822960" cy="82296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600" b="1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921240" y="3474720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Save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Long Text Paste — Example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3474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💡  Example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377440"/>
            <a:ext cx="457200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14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00D2FF"/>
                </a:solidFill>
              </a:defRPr>
            </a:pPr>
            <a:r>
              <a:t>INPUT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2926080"/>
            <a:ext cx="420624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"Honors Eng 9: World Lit  A  1\nAlg II/Trig  A  2\nHonors Precalculus  A  1\n..."  (450 chars)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5669280" y="3200400"/>
            <a:ext cx="54864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6400800" y="2377440"/>
            <a:ext cx="4663440" cy="2286000"/>
          </a:xfrm>
          <a:prstGeom prst="roundRect">
            <a:avLst>
              <a:gd name="adj" fmla="val 5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OUTPUT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2926080"/>
            <a:ext cx="429768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4ECB71"/>
                </a:solidFill>
              </a:defRPr>
            </a:pPr>
            <a:r>
              <a:t>{ "student_name": "Albert Smith",</a:t>
            </a:r>
            <a:br/>
            <a:r>
              <a:t>  "program": null,</a:t>
            </a:r>
            <a:br/>
            <a:r>
              <a:t>  "completed_courses": [</a:t>
            </a:r>
            <a:br/>
            <a:r>
              <a:t>    {"course": "Honors Eng 9",</a:t>
            </a:r>
            <a:br/>
            <a:r>
              <a:t>     "credits": 1, "grade": "A"},</a:t>
            </a:r>
            <a:br/>
            <a:r>
              <a:t>    {"course": "Alg II/Trig",</a:t>
            </a:r>
            <a:br/>
            <a:r>
              <a:t>     "credits": 2, "grade": "A"},</a:t>
            </a:r>
            <a:br/>
            <a:r>
              <a:t>    ... ] }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03520"/>
            <a:ext cx="10515600" cy="10972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731520" y="5303520"/>
            <a:ext cx="91440" cy="10972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09728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⚠️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011680" y="5532120"/>
            <a:ext cx="8961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Design Note: Format heuristic, not content analysis.</a:t>
            </a:r>
            <a:br/>
            <a:r>
              <a:t>Any long message with newlines is treated as a transcript.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(Chat)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direct to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47548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✅  What Qualifies?</a:t>
            </a:r>
          </a:p>
        </p:txBody>
      </p:sp>
      <p:sp>
        <p:nvSpPr>
          <p:cNvPr id="7" name="Oval 6"/>
          <p:cNvSpPr/>
          <p:nvPr/>
        </p:nvSpPr>
        <p:spPr>
          <a:xfrm>
            <a:off x="1188720" y="237744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44144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 file attached</a:t>
            </a:r>
          </a:p>
        </p:txBody>
      </p:sp>
      <p:sp>
        <p:nvSpPr>
          <p:cNvPr id="9" name="Oval 8"/>
          <p:cNvSpPr/>
          <p:nvPr/>
        </p:nvSpPr>
        <p:spPr>
          <a:xfrm>
            <a:off x="1188720" y="301752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0" y="308152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NOT a URL (no http(s)://)</a:t>
            </a:r>
          </a:p>
        </p:txBody>
      </p:sp>
      <p:sp>
        <p:nvSpPr>
          <p:cNvPr id="11" name="Oval 10"/>
          <p:cNvSpPr/>
          <p:nvPr/>
        </p:nvSpPr>
        <p:spPr>
          <a:xfrm>
            <a:off x="1188720" y="3657600"/>
            <a:ext cx="457200" cy="4572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❌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721608"/>
            <a:ext cx="32918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≤ 300 chars OR no newlines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943600" y="1554480"/>
            <a:ext cx="54864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309360" y="173736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⚡  What Happens?</a:t>
            </a:r>
          </a:p>
        </p:txBody>
      </p:sp>
      <p:sp>
        <p:nvSpPr>
          <p:cNvPr id="15" name="Oval 14"/>
          <p:cNvSpPr/>
          <p:nvPr/>
        </p:nvSpPr>
        <p:spPr>
          <a:xfrm>
            <a:off x="6583680" y="2468880"/>
            <a:ext cx="914400" cy="91440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342900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8888AA"/>
                </a:solidFill>
              </a:defRPr>
            </a:pPr>
            <a:r>
              <a:t>Message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635240" y="2743200"/>
            <a:ext cx="640080" cy="274320"/>
          </a:xfrm>
          <a:prstGeom prst="right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412480" y="23317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4ECB71"/>
                </a:solidFill>
              </a:defRPr>
            </a:pPr>
            <a:r>
              <a:t>No extraction needed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27432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Passed directly to</a:t>
            </a:r>
            <a:br/>
            <a:r>
              <a:t>LangGraph pipeline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Input: Short Text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48463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4ECB71"/>
                </a:solidFill>
              </a:defRPr>
            </a:pPr>
            <a:r>
              <a:t>💬  Example Questions → Pipeline Route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77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23774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774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8888AA"/>
                </a:solidFill>
              </a:defRPr>
            </a:pPr>
            <a:r>
              <a:t>What Happens</a:t>
            </a:r>
          </a:p>
        </p:txBody>
      </p:sp>
      <p:sp>
        <p:nvSpPr>
          <p:cNvPr id="9" name="Rectangle 8"/>
          <p:cNvSpPr/>
          <p:nvPr/>
        </p:nvSpPr>
        <p:spPr>
          <a:xfrm>
            <a:off x="914400" y="2743200"/>
            <a:ext cx="1005840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3017520"/>
            <a:ext cx="548640" cy="5486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600200" y="310896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114800" y="309067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897880" y="312724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31089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Runs CGPA calculator</a:t>
            </a:r>
          </a:p>
        </p:txBody>
      </p:sp>
      <p:sp>
        <p:nvSpPr>
          <p:cNvPr id="15" name="Oval 14"/>
          <p:cNvSpPr/>
          <p:nvPr/>
        </p:nvSpPr>
        <p:spPr>
          <a:xfrm>
            <a:off x="914400" y="3840480"/>
            <a:ext cx="548640" cy="5486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00200" y="393192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"Courses for AI track?"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0" y="391363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5897880" y="395020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0" y="39319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RAG + catalog lookup</a:t>
            </a:r>
          </a:p>
        </p:txBody>
      </p:sp>
      <p:sp>
        <p:nvSpPr>
          <p:cNvPr id="20" name="Oval 19"/>
          <p:cNvSpPr/>
          <p:nvPr/>
        </p:nvSpPr>
        <p:spPr>
          <a:xfrm>
            <a:off x="914400" y="4663440"/>
            <a:ext cx="548640" cy="5486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600200" y="475488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473659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897880" y="477316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7548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Searches RAG KB</a:t>
            </a:r>
          </a:p>
        </p:txBody>
      </p:sp>
      <p:sp>
        <p:nvSpPr>
          <p:cNvPr id="25" name="Oval 24"/>
          <p:cNvSpPr/>
          <p:nvPr/>
        </p:nvSpPr>
        <p:spPr>
          <a:xfrm>
            <a:off x="914400" y="5486400"/>
            <a:ext cx="548640" cy="5486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👋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600200" y="5577840"/>
            <a:ext cx="2560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114800" y="5559552"/>
            <a:ext cx="1645920" cy="4114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5897880" y="5596128"/>
            <a:ext cx="411480" cy="22860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400800" y="557784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BBBBCC"/>
                </a:solidFill>
              </a:defRPr>
            </a:pPr>
            <a:r>
              <a:t>General response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5166360" y="1097280"/>
            <a:ext cx="1828800" cy="182880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⚙️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STAGE II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6576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Data Processing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0" y="4572000"/>
            <a:ext cx="265176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371600" y="484632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BBBBCC"/>
                </a:solidFill>
              </a:defRPr>
            </a:pPr>
            <a:r>
              <a:t>Linear LangGraph pipeline — all nodes run in sequence</a:t>
            </a:r>
          </a:p>
        </p:txBody>
      </p:sp>
      <p:sp>
        <p:nvSpPr>
          <p:cNvPr id="8" name="Oval 7"/>
          <p:cNvSpPr/>
          <p:nvPr/>
        </p:nvSpPr>
        <p:spPr>
          <a:xfrm>
            <a:off x="1920240" y="5486400"/>
            <a:ext cx="731520" cy="73152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6304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6C63FF"/>
                </a:solidFill>
              </a:defRPr>
            </a:pPr>
            <a:r>
              <a:t>Load Context</a:t>
            </a:r>
          </a:p>
        </p:txBody>
      </p:sp>
      <p:sp>
        <p:nvSpPr>
          <p:cNvPr id="10" name="Oval 9"/>
          <p:cNvSpPr/>
          <p:nvPr/>
        </p:nvSpPr>
        <p:spPr>
          <a:xfrm>
            <a:off x="4297680" y="5486400"/>
            <a:ext cx="731520" cy="73152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84048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0D2FF"/>
                </a:solidFill>
              </a:defRPr>
            </a:pPr>
            <a:r>
              <a:t>Classify Intent</a:t>
            </a:r>
          </a:p>
        </p:txBody>
      </p:sp>
      <p:sp>
        <p:nvSpPr>
          <p:cNvPr id="12" name="Oval 11"/>
          <p:cNvSpPr/>
          <p:nvPr/>
        </p:nvSpPr>
        <p:spPr>
          <a:xfrm>
            <a:off x="6675120" y="5486400"/>
            <a:ext cx="731520" cy="73152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FF6B6B"/>
                </a:solidFill>
              </a:defRPr>
            </a:pPr>
            <a:r>
              <a:t>Retrieve Docs</a:t>
            </a:r>
          </a:p>
        </p:txBody>
      </p:sp>
      <p:sp>
        <p:nvSpPr>
          <p:cNvPr id="14" name="Oval 13"/>
          <p:cNvSpPr/>
          <p:nvPr/>
        </p:nvSpPr>
        <p:spPr>
          <a:xfrm>
            <a:off x="9052560" y="5486400"/>
            <a:ext cx="731520" cy="73152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95360" y="626364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4ECB71"/>
                </a:solidFill>
              </a:defRPr>
            </a:pPr>
            <a:r>
              <a:t>Calculate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load_context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2743200" cy="502920"/>
          </a:xfrm>
          <a:prstGeom prst="roundRect">
            <a:avLst>
              <a:gd name="adj" fmla="val 10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loads structured 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7432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6C63FF"/>
                </a:solidFill>
              </a:defRPr>
            </a:pPr>
            <a:r>
              <a:t>📂  What It Does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3774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737360" y="23957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Reads catalog_rules.json from disk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2834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28529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Reads transcript_record.json from disk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32918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737360" y="33101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These were saved during Stage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37490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➡️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76732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Injects both into pipeline state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5544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554480"/>
            <a:ext cx="50292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92240" y="16916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📋  catalog_rules.json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Program requirements, tracks, courses,</a:t>
            </a:r>
            <a:br/>
            <a:r>
              <a:t>graduation rules — from URL scraping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17920" y="2926080"/>
            <a:ext cx="50292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17920" y="2926080"/>
            <a:ext cx="50292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92240" y="3063240"/>
            <a:ext cx="4389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📄  transcript_record.json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92240" y="34747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Student name, program, completed courses</a:t>
            </a:r>
            <a:br/>
            <a:r>
              <a:t>with grades — from PDF/image/text upload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31520" y="4663440"/>
            <a:ext cx="10515600" cy="192024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31520" y="466344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97280" y="48006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⚡  Output → Pipeline State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52578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...state,</a:t>
            </a:r>
            <a:br/>
            <a:r>
              <a:t>  "catalog_rules": { "program_name": "...", "required_credits": 120, "tracks": [...], ... },</a:t>
            </a:r>
            <a:br/>
            <a:r>
              <a:t>  "transcript_record": { "student_name": "...", "program": "...", "completed_courses": [...] } }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classify_intent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9436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keyword-based routing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C63FF"/>
                </a:solidFill>
              </a:defRPr>
            </a:pPr>
            <a:r>
              <a:t>🧮  Calculation Keywords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2860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"cgpa"  "gpa"  "credit"  "credits"</a:t>
            </a:r>
            <a:br/>
            <a:r>
              <a:t>"remaining"  "left"  "how many more"</a:t>
            </a:r>
            <a:br/>
            <a:r>
              <a:t>"graduate"  "eligible"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554480"/>
            <a:ext cx="50292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173736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💡  Reasoning Keywords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286000"/>
            <a:ext cx="4389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"should i"  "which"  "recommend"</a:t>
            </a:r>
            <a:br/>
            <a:r>
              <a:t>"difference"  "compare"  "why"</a:t>
            </a:r>
            <a:br/>
            <a:r>
              <a:t>"advise"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114800"/>
            <a:ext cx="105156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2976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6B6B"/>
                </a:solidFill>
              </a:defRPr>
            </a:pPr>
            <a:r>
              <a:t>🔀  Routing Logic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84632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Both match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657600" y="4846320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440680" y="4892040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9436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+ calculators run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276088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Only calc match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657600" y="527608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5440680" y="5321808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943600" y="5276088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Skip RAG, run calculators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88720" y="5705856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Only reasoning match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57600" y="5705856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5440680" y="5751576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43600" y="5705856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search, skip calculators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88720" y="6135624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Neither match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3657600" y="6135624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27" name="Right Arrow 26"/>
          <p:cNvSpPr/>
          <p:nvPr/>
        </p:nvSpPr>
        <p:spPr>
          <a:xfrm>
            <a:off x="5440680" y="6181344"/>
            <a:ext cx="36576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943600" y="6135624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RAG search, skip calculators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classify_intent —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50292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8888AA"/>
                </a:solidFill>
              </a:defRPr>
            </a:pPr>
            <a:r>
              <a:t>Question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Calc?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Reason?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1737360"/>
            <a:ext cx="2286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8888AA"/>
                </a:solidFill>
              </a:defRPr>
            </a:pPr>
            <a:r>
              <a:t>Route</a:t>
            </a:r>
          </a:p>
        </p:txBody>
      </p:sp>
      <p:sp>
        <p:nvSpPr>
          <p:cNvPr id="9" name="Rectangle 8"/>
          <p:cNvSpPr/>
          <p:nvPr/>
        </p:nvSpPr>
        <p:spPr>
          <a:xfrm>
            <a:off x="1097280" y="2148840"/>
            <a:ext cx="9875520" cy="18288"/>
          </a:xfrm>
          <a:prstGeom prst="rect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23774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"What is my CGPA?"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3774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0" y="239572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97280" y="29260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"How many credits remaining?"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0" y="29260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229600" y="294436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calculation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97280" y="34747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"Should I take the AI track?"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347472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29600" y="349300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97280" y="40233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"Which courses should I take?"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0" y="402336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229600" y="404164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reasoning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97280" y="45720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"Should I graduate now or take more credits?"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400800" y="457200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4ECB71"/>
                </a:solidFill>
              </a:defRPr>
            </a:pPr>
            <a:r>
              <a:t>YES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229600" y="459028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hybrid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97280" y="512064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"Explain the MAP program"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400800" y="512064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229600" y="513892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7280" y="56692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"Hello!"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00800" y="5669280"/>
            <a:ext cx="1371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8888AA"/>
                </a:solidFill>
              </a:defRPr>
            </a:pPr>
            <a:r>
              <a:t>no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229600" y="5687568"/>
            <a:ext cx="1645920" cy="347472"/>
          </a:xfrm>
          <a:prstGeom prst="roundRect">
            <a:avLst>
              <a:gd name="adj" fmla="val 8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300" b="1">
                <a:solidFill>
                  <a:srgbClr val="FFFFFF"/>
                </a:solidFill>
              </a:defRPr>
            </a:pPr>
            <a:r>
              <a:t>retrieval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retrieve_docs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65760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RAG semantic search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7315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31520" y="1554480"/>
            <a:ext cx="91440" cy="73152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51560" y="1645920"/>
            <a:ext cx="502920" cy="50292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⏭️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691640" y="169164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Skipped entirely if route == "calculation" — returns empty chunks and citations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576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91440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Question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User's original</a:t>
            </a:r>
            <a:br/>
            <a:r>
              <a:t>question text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242316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269748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24612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8892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8892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OpenAI embeddings</a:t>
            </a:r>
            <a:br/>
            <a:r>
              <a:t>(default model)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475488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502920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57784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📐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12064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Cosine</a:t>
            </a:r>
            <a:br/>
            <a:r>
              <a:t>Search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12064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Compare against</a:t>
            </a:r>
            <a:br/>
            <a:r>
              <a:t>all doc chunks</a:t>
            </a:r>
          </a:p>
        </p:txBody>
      </p:sp>
      <p:sp>
        <p:nvSpPr>
          <p:cNvPr id="23" name="Right Arrow 22"/>
          <p:cNvSpPr/>
          <p:nvPr/>
        </p:nvSpPr>
        <p:spPr>
          <a:xfrm>
            <a:off x="708660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736092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790956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🏆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5236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Top 4</a:t>
            </a:r>
            <a:br/>
            <a:r>
              <a:t>Results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5236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similarity_top_k=4</a:t>
            </a:r>
            <a:br/>
            <a:r>
              <a:t>most relevant</a:t>
            </a:r>
          </a:p>
        </p:txBody>
      </p:sp>
      <p:sp>
        <p:nvSpPr>
          <p:cNvPr id="28" name="Right Arrow 27"/>
          <p:cNvSpPr/>
          <p:nvPr/>
        </p:nvSpPr>
        <p:spPr>
          <a:xfrm>
            <a:off x="9418320" y="3611880"/>
            <a:ext cx="274320" cy="182880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9692640" y="2560320"/>
            <a:ext cx="201168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241280" y="2697480"/>
            <a:ext cx="914400" cy="9144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784080" y="3703320"/>
            <a:ext cx="1828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</a:defRPr>
            </a:pPr>
            <a:r>
              <a:t>Extract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784080" y="4160520"/>
            <a:ext cx="1828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BBBBCC"/>
                </a:solidFill>
              </a:defRPr>
            </a:pPr>
            <a:r>
              <a:t>Text[:1200] +</a:t>
            </a:r>
            <a:br/>
            <a:r>
              <a:t>source filename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731520" y="5394960"/>
            <a:ext cx="10515600" cy="118872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31520" y="5394960"/>
            <a:ext cx="1051560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97280" y="5486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⚡  Output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97280" y="58521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"retrieved_chunks": ["chunk text up to 1200 chars...", ...]    "citations": ["file_name_1.txt", "file_name_2.pdf"]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RAG Knowledge Base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built once at startup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7373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00D2FF"/>
                </a:solidFill>
              </a:defRPr>
            </a:pPr>
            <a:r>
              <a:t>🏗️  How the Index Is Built (build_index)</a:t>
            </a:r>
          </a:p>
        </p:txBody>
      </p:sp>
      <p:sp>
        <p:nvSpPr>
          <p:cNvPr id="7" name="Oval 6"/>
          <p:cNvSpPr/>
          <p:nvPr/>
        </p:nvSpPr>
        <p:spPr>
          <a:xfrm>
            <a:off x="123444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Scan</a:t>
            </a:r>
            <a:br/>
            <a:r>
              <a:t>Files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processed_data/</a:t>
            </a:r>
            <a:br/>
            <a:r>
              <a:t>.pdf .txt .md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233172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4612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📖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92608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Read &amp;</a:t>
            </a:r>
            <a:br/>
            <a:r>
              <a:t>Parse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SimpleDirectoryReader</a:t>
            </a:r>
            <a:br/>
            <a:r>
              <a:t>+ PDFReader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34340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25780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3776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Chunk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Split docs into</a:t>
            </a:r>
            <a:br/>
            <a:r>
              <a:t>smaller pieces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635508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26948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4944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OpenAI embeddings</a:t>
            </a:r>
            <a:br/>
            <a:r>
              <a:t>for each chunk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366760" y="2468880"/>
            <a:ext cx="274320" cy="164592"/>
          </a:xfrm>
          <a:prstGeom prst="right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9281160" y="2286000"/>
            <a:ext cx="685800" cy="68580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961120" y="3017520"/>
            <a:ext cx="1371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Store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961120" y="3383280"/>
            <a:ext cx="1371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00" b="0">
                <a:solidFill>
                  <a:srgbClr val="BBBBCC"/>
                </a:solidFill>
              </a:defRPr>
            </a:pPr>
            <a:r>
              <a:t>In-memory</a:t>
            </a:r>
            <a:br/>
            <a:r>
              <a:t>vector index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114800"/>
            <a:ext cx="50292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972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📚  Contents (processed_data/)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887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737360" y="4864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Course lecture slides (CS 4440/5440)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887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📝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37360" y="5276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Prompt engineering papers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887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🎬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73736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Video lecture transcripts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88720" y="6080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📘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737360" y="6099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AI/ML reference documents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217920" y="4114800"/>
            <a:ext cx="5029200" cy="2560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583680" y="429768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4ECB71"/>
                </a:solidFill>
              </a:defRPr>
            </a:pPr>
            <a:r>
              <a:t>🔑  Key Properties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675120" y="4846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223760" y="486460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Static — never modified by uploads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675120" y="525780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💨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7223760" y="527608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In-memory — rebuilt on each restart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566928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223760" y="568756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similarity_top_k=4 per query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675120" y="608076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✂️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223760" y="6099048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BBBBCC"/>
                </a:solidFill>
              </a:defRPr>
            </a:pPr>
            <a:r>
              <a:t>Chunks capped at 1200 chars each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73152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Node: calculate_tools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5486400" y="411480"/>
            <a:ext cx="3200400" cy="502920"/>
          </a:xfrm>
          <a:prstGeom prst="roundRect">
            <a:avLst>
              <a:gd name="adj" fmla="val 10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→ phrase-matched calcs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45720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457200" y="1554480"/>
            <a:ext cx="347472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64592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CGPA Calculator</a:t>
            </a:r>
          </a:p>
        </p:txBody>
      </p:sp>
      <p:sp>
        <p:nvSpPr>
          <p:cNvPr id="9" name="Rectangle 8"/>
          <p:cNvSpPr/>
          <p:nvPr/>
        </p:nvSpPr>
        <p:spPr>
          <a:xfrm>
            <a:off x="1371600" y="3474720"/>
            <a:ext cx="16459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59436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6C63FF"/>
                </a:solidFill>
              </a:defRPr>
            </a:pPr>
            <a:r>
              <a:t>TRIGGER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8580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"my cgpa" / "my gpa"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For each course:</a:t>
            </a:r>
            <a:br/>
            <a:r>
              <a:t>  quality_pts = credits × grade_pts</a:t>
            </a:r>
            <a:br/>
            <a:r>
              <a:t>CGPA = total_quality / total_credits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29768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297680" y="1554480"/>
            <a:ext cx="347472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48640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📊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Remaining Credits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212080" y="3474720"/>
            <a:ext cx="16459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3484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2628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</a:defRPr>
            </a:pPr>
            <a:r>
              <a:t>TRIGGER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2628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"remaining credits" / "credits left"</a:t>
            </a:r>
            <a:br/>
            <a:r>
              <a:t>/ "how many more credits"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3484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remaining = required_credits</a:t>
            </a:r>
            <a:br/>
            <a:r>
              <a:t>  - sum(completed credits)</a:t>
            </a:r>
            <a:br/>
            <a:r>
              <a:t>Uses catalog_rules.required_credits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38160" y="1554480"/>
            <a:ext cx="3474720" cy="48463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138160" y="1554480"/>
            <a:ext cx="3474720" cy="64008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326880" y="1783080"/>
            <a:ext cx="1097280" cy="10972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275320" y="301752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Graduation Status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52560" y="3474720"/>
            <a:ext cx="1645920" cy="27432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8275320" y="3657600"/>
            <a:ext cx="3200400" cy="822960"/>
          </a:xfrm>
          <a:prstGeom prst="roundRect">
            <a:avLst>
              <a:gd name="adj" fmla="val 4000"/>
            </a:avLst>
          </a:prstGeom>
          <a:solidFill>
            <a:srgbClr val="3232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366760" y="3703320"/>
            <a:ext cx="10972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FF6B6B"/>
                </a:solidFill>
              </a:defRPr>
            </a:pPr>
            <a:r>
              <a:t>TRIGGER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366760" y="3931920"/>
            <a:ext cx="3017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BBBCC"/>
                </a:solidFill>
              </a:defRPr>
            </a:pPr>
            <a:r>
              <a:t>"can i graduate" /</a:t>
            </a:r>
            <a:br/>
            <a:r>
              <a:t>"am i eligible to graduate"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75320" y="4663440"/>
            <a:ext cx="320040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Checks: remaining_credits &lt;= 0</a:t>
            </a:r>
            <a:br/>
            <a:r>
              <a:t>  AND cgpa &gt;= minimum_cgpa</a:t>
            </a:r>
            <a:br/>
            <a:r>
              <a:t>Returns eligible: true/false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</a:defRPr>
            </a:pPr>
            <a:r>
              <a:t>calculate_tools — Output Examples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18288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10515600" cy="15544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1051560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916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6C63FF"/>
                </a:solidFill>
              </a:defRPr>
            </a:pPr>
            <a:r>
              <a:t>🧮  CGPA Result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210312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00" b="0">
                <a:solidFill>
                  <a:srgbClr val="BBBBCC"/>
                </a:solidFill>
              </a:defRPr>
            </a:pPr>
            <a:r>
              <a:t>{ "type": "cgpa", "total_credits": 45.0, "total_quality_points": 162.0, "cgpa": 3.6,</a:t>
            </a:r>
            <a:br/>
            <a:r>
              <a:t>  "breakdown": [{"course": "Chemistry", "credits": 1, "grade": "A", "grade_points": 4.0, "quality_points": 4.0}, ...] }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3383280"/>
            <a:ext cx="10515600" cy="137160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731520" y="3383280"/>
            <a:ext cx="1051560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52044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00D2FF"/>
                </a:solidFill>
              </a:defRPr>
            </a:pPr>
            <a:r>
              <a:t>📊  Remaining Credits Result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97280" y="39319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"type": "remaining_credits", "completed_credits": 45.0, "required_credits": 120.0, "remaining_credits": 75.0 }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5029200"/>
            <a:ext cx="10515600" cy="15544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31520" y="5029200"/>
            <a:ext cx="1051560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516636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6B6B"/>
                </a:solidFill>
              </a:defRPr>
            </a:pPr>
            <a:r>
              <a:t>🎓  Graduation Status Result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97280" y="557784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{ "type": "graduation_status", "cgpa": 3.6, "minimum_cgpa_for_graduation": 2.0,</a:t>
            </a:r>
            <a:br/>
            <a:r>
              <a:t>  "completed_credits": 45.0, "required_credits": 120.0, "remaining_credits": 75.0, "eligible": false }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Two Separate Data Stores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554480"/>
            <a:ext cx="5120640" cy="64008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2651760" y="1783080"/>
            <a:ext cx="1097280" cy="10972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🗄️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00D2FF"/>
                </a:solidFill>
              </a:defRPr>
            </a:pPr>
            <a:r>
              <a:t>Vector Index (RAG KB)</a:t>
            </a:r>
          </a:p>
        </p:txBody>
      </p:sp>
      <p:sp>
        <p:nvSpPr>
          <p:cNvPr id="8" name="Rectangle 7"/>
          <p:cNvSpPr/>
          <p:nvPr/>
        </p:nvSpPr>
        <p:spPr>
          <a:xfrm>
            <a:off x="1828800" y="3474720"/>
            <a:ext cx="2560320" cy="27432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18872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3721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Built from processed_data/ at startup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645920" y="4178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Course lectures, papers, transcripts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🔢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645920" y="4636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Embedded via OpenAI embeddings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8872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45920" y="5093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Queried by semantic similarity (top 4)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8872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Static — uploads don't modify 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645920" y="6007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In-memory — rebuilt on each restart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309360" y="1554480"/>
            <a:ext cx="5120640" cy="475488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6309360" y="1554480"/>
            <a:ext cx="5120640" cy="64008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0" y="1783080"/>
            <a:ext cx="1097280" cy="10972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8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3017520"/>
            <a:ext cx="4389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C63FF"/>
                </a:solidFill>
              </a:defRPr>
            </a:pPr>
            <a:r>
              <a:t>Structured JSON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406640" y="3474720"/>
            <a:ext cx="2560320" cy="2743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766560" y="3703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223760" y="3721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catalog_rules.json — from URLs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766560" y="41605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23760" y="41788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transcript_record.json — from uploads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766560" y="46177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7223760" y="46360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Extracted at runtime by GPT-4.1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766560" y="50749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♻️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50932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Overwritten each time (single-user)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766560" y="55321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223760" y="55504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Used by: calculators + answer prompt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766560" y="598932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💾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223760" y="6007608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300" b="0">
                <a:solidFill>
                  <a:srgbClr val="BBBBCC"/>
                </a:solidFill>
              </a:defRPr>
            </a:pPr>
            <a:r>
              <a:t>Persisted in extracted_data/ dir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Stage 3: Answer Generation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463040"/>
            <a:ext cx="2560320" cy="54864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325880" y="160020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RAG Chunks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Semantic search</a:t>
            </a:r>
            <a:br/>
            <a:r>
              <a:t>results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42900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429000" y="1463040"/>
            <a:ext cx="2560320" cy="54864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4206240" y="160020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📋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2044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Catalog JSON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52044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Program rules</a:t>
            </a:r>
            <a:br/>
            <a:r>
              <a:t>&amp; requirements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30936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309360" y="1463040"/>
            <a:ext cx="2560320" cy="54864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086600" y="160020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Transcript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Student record</a:t>
            </a:r>
            <a:br/>
            <a:r>
              <a:t>&amp; grades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89720" y="1463040"/>
            <a:ext cx="2560320" cy="210312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9189720" y="1463040"/>
            <a:ext cx="2560320" cy="54864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966960" y="160020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000" b="1">
                <a:solidFill>
                  <a:srgbClr val="FFFFFF"/>
                </a:solidFill>
              </a:defRPr>
            </a:pPr>
            <a:r>
              <a:t>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697480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Calc Results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281160" y="306324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CGPA, credits,</a:t>
            </a:r>
            <a:br/>
            <a:r>
              <a:t>grad status</a:t>
            </a:r>
          </a:p>
        </p:txBody>
      </p:sp>
      <p:sp>
        <p:nvSpPr>
          <p:cNvPr id="24" name="Down Arrow 23"/>
          <p:cNvSpPr/>
          <p:nvPr/>
        </p:nvSpPr>
        <p:spPr>
          <a:xfrm>
            <a:off x="128016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Down Arrow 24"/>
          <p:cNvSpPr/>
          <p:nvPr/>
        </p:nvSpPr>
        <p:spPr>
          <a:xfrm>
            <a:off x="416052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Down Arrow 25"/>
          <p:cNvSpPr/>
          <p:nvPr/>
        </p:nvSpPr>
        <p:spPr>
          <a:xfrm>
            <a:off x="704088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Down Arrow 26"/>
          <p:cNvSpPr/>
          <p:nvPr/>
        </p:nvSpPr>
        <p:spPr>
          <a:xfrm>
            <a:off x="9921240" y="3611880"/>
            <a:ext cx="274320" cy="457200"/>
          </a:xfrm>
          <a:prstGeom prst="downArrow">
            <a:avLst/>
          </a:prstGeom>
          <a:solidFill>
            <a:srgbClr val="8888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371600" y="4206240"/>
            <a:ext cx="9418320" cy="1280160"/>
          </a:xfrm>
          <a:prstGeom prst="roundRect">
            <a:avLst>
              <a:gd name="adj" fmla="val 8000"/>
            </a:avLst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828800" y="4343400"/>
            <a:ext cx="1005840" cy="100584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4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017520" y="43434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800" b="1">
                <a:solidFill>
                  <a:srgbClr val="FFFFFF"/>
                </a:solidFill>
              </a:defRPr>
            </a:pPr>
            <a:r>
              <a:t>GPT-4.1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017520" y="484632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DDDDFF"/>
                </a:solidFill>
              </a:defRPr>
            </a:pPr>
            <a:r>
              <a:t>Assembles all context into one prompt → generates grounded, accurate response</a:t>
            </a:r>
          </a:p>
        </p:txBody>
      </p:sp>
      <p:sp>
        <p:nvSpPr>
          <p:cNvPr id="32" name="Down Arrow 31"/>
          <p:cNvSpPr/>
          <p:nvPr/>
        </p:nvSpPr>
        <p:spPr>
          <a:xfrm>
            <a:off x="5852160" y="5532120"/>
            <a:ext cx="274320" cy="457200"/>
          </a:xfrm>
          <a:prstGeom prst="downArrow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57600" y="6035040"/>
            <a:ext cx="4846320" cy="640080"/>
          </a:xfrm>
          <a:prstGeom prst="roundRect">
            <a:avLst>
              <a:gd name="adj" fmla="val 8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✨  Student gets a grounded, accurate answer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Tech Stack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31520" y="146304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20" y="1463040"/>
            <a:ext cx="91440" cy="86868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97280" y="1572768"/>
            <a:ext cx="640080" cy="64008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011680" y="164592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Orchestration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840480" y="160020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LangGraph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164592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Controls multi-stage pipeline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251460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31520" y="2514600"/>
            <a:ext cx="91440" cy="86868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1097280" y="2624328"/>
            <a:ext cx="640080" cy="64008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🤖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011680" y="269748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LLM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840480" y="265176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GPT-4.1 (OpenAI)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9748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Extraction &amp; answer generation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56616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731520" y="3566160"/>
            <a:ext cx="91440" cy="86868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1097280" y="3675888"/>
            <a:ext cx="640080" cy="64008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🔍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011680" y="374904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40480" y="37033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Vector Index + Search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15200" y="374904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Retrieves knowledge chunks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61772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31520" y="4617720"/>
            <a:ext cx="91440" cy="86868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97280" y="4727448"/>
            <a:ext cx="640080" cy="64008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⚡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011680" y="480060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Backend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40480" y="47548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FastAPI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0" y="480060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REST API for uploads &amp; chat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31520" y="5669280"/>
            <a:ext cx="10515600" cy="868680"/>
          </a:xfrm>
          <a:prstGeom prst="roundRect">
            <a:avLst>
              <a:gd name="adj" fmla="val 5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731520" y="5669280"/>
            <a:ext cx="91440" cy="868680"/>
          </a:xfrm>
          <a:prstGeom prst="rect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7280" y="5779008"/>
            <a:ext cx="640080" cy="64008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🖥️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011680" y="5852160"/>
            <a:ext cx="1828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8888AA"/>
                </a:solidFill>
              </a:defRPr>
            </a:pPr>
            <a:r>
              <a:t>Frontend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840480" y="58064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FFFFF"/>
                </a:solidFill>
              </a:defRPr>
            </a:pPr>
            <a:r>
              <a:t>Web Interface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0" y="5852160"/>
            <a:ext cx="3657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BBBBCC"/>
                </a:solidFill>
              </a:defRPr>
            </a:pPr>
            <a:r>
              <a:t>Chat UI for student interaction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9144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</a:defRPr>
            </a:pPr>
            <a:r>
              <a:t>Key Design Characteristics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051560"/>
            <a:ext cx="2286000" cy="45720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54864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783080" y="164592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Linear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All nodes run in sequence</a:t>
            </a:r>
            <a:br/>
            <a:r>
              <a:t>Routing changes behavior inside nodes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8912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623560" y="1645920"/>
            <a:ext cx="1005840" cy="1005840"/>
          </a:xfrm>
          <a:prstGeom prst="ellipse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2628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Format Routing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2628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Input type determines path</a:t>
            </a:r>
            <a:br/>
            <a:r>
              <a:t>No content analysis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146304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9464040" y="1645920"/>
            <a:ext cx="1005840" cy="1005840"/>
          </a:xfrm>
          <a:prstGeom prst="ellips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🏷️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66760" y="27432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Keyword Intent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60" y="315468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Substring matching</a:t>
            </a:r>
            <a:br/>
            <a:r>
              <a:t>Not LLM-based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4864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783080" y="4251960"/>
            <a:ext cx="1005840" cy="1005840"/>
          </a:xfrm>
          <a:prstGeom prst="ellips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Static RAG KB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8580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Built once at startup</a:t>
            </a:r>
            <a:br/>
            <a:r>
              <a:t>Uploads don't extend it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623560" y="4251960"/>
            <a:ext cx="1005840" cy="1005840"/>
          </a:xfrm>
          <a:prstGeom prst="ellipse">
            <a:avLst/>
          </a:prstGeom>
          <a:solidFill>
            <a:srgbClr val="FFA5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Single-User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One transcript + catalog</a:t>
            </a:r>
            <a:br/>
            <a:r>
              <a:t>Each upload overwrites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229600" y="4069080"/>
            <a:ext cx="3474720" cy="2286000"/>
          </a:xfrm>
          <a:prstGeom prst="roundRect">
            <a:avLst>
              <a:gd name="adj" fmla="val 6000"/>
            </a:avLst>
          </a:prstGeom>
          <a:solidFill>
            <a:srgbClr val="2727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9464040" y="4251960"/>
            <a:ext cx="1005840" cy="100584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🎯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66760" y="534924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Grounded Answers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66760" y="576072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0">
                <a:solidFill>
                  <a:srgbClr val="BBBBCC"/>
                </a:solidFill>
              </a:defRPr>
            </a:pPr>
            <a:r>
              <a:t>RAG + structured data</a:t>
            </a:r>
            <a:br/>
            <a:r>
              <a:t>+ calcs = less hallucination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1B2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84848"/>
            <a:ext cx="12191695" cy="73152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1247120" y="-4572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-274320" y="5943600"/>
            <a:ext cx="1371600" cy="1371600"/>
          </a:xfrm>
          <a:prstGeom prst="ellipse">
            <a:avLst/>
          </a:prstGeom>
          <a:solidFill>
            <a:srgbClr val="3D38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5166360" y="1188720"/>
            <a:ext cx="1828800" cy="1828800"/>
          </a:xfrm>
          <a:prstGeom prst="ellipse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6400" b="1">
                <a:solidFill>
                  <a:srgbClr val="FFFFFF"/>
                </a:solidFill>
              </a:defRPr>
            </a:pPr>
            <a:r>
              <a:t>🎓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320040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4114800"/>
            <a:ext cx="2651760" cy="36576"/>
          </a:xfrm>
          <a:prstGeom prst="rect">
            <a:avLst/>
          </a:prstGeom>
          <a:solidFill>
            <a:srgbClr val="6C63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71600" y="43891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00D2FF"/>
                </a:solidFill>
              </a:defRPr>
            </a:pPr>
            <a:r>
              <a:t>Smart Academic Assistant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51206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8888AA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