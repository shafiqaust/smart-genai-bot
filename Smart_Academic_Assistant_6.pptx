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" y="-27432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47120" y="576072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12801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6" name="Oval 5"/>
          <p:cNvSpPr/>
          <p:nvPr/>
        </p:nvSpPr>
        <p:spPr>
          <a:xfrm>
            <a:off x="5120640" y="12801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128016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8" name="Oval 7"/>
          <p:cNvSpPr/>
          <p:nvPr/>
        </p:nvSpPr>
        <p:spPr>
          <a:xfrm>
            <a:off x="7680960" y="1280160"/>
            <a:ext cx="914400" cy="91440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Smart Academic Assistant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6576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</a:defRPr>
            </a:pPr>
            <a:r>
              <a:t>A Multi-Tool RAG System for Student Advising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LangGraph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GPT-4.1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" y="1965960"/>
            <a:ext cx="1051560" cy="10515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Understanding</a:t>
            </a:r>
            <a:br/>
            <a:r>
              <a:t>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023360"/>
            <a:ext cx="114300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Student questions are messy</a:t>
            </a:r>
            <a:br/>
            <a:r>
              <a:t>and require reasoning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06240" y="1965960"/>
            <a:ext cx="1051560" cy="10515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Processing</a:t>
            </a:r>
            <a:br/>
            <a:r>
              <a:t>Uploads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4023360"/>
            <a:ext cx="11430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PDFs, URLs, text — each</a:t>
            </a:r>
            <a:br/>
            <a:r>
              <a:t>needs different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86600" y="1965960"/>
            <a:ext cx="1051560" cy="10515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Accurate</a:t>
            </a:r>
            <a:br/>
            <a:r>
              <a:t>Knowledge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4023360"/>
            <a:ext cx="114300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LLMs hallucinate — answers</a:t>
            </a:r>
            <a:br/>
            <a:r>
              <a:t>must be grounded in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66960" y="1965960"/>
            <a:ext cx="1051560" cy="105156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Clear</a:t>
            </a:r>
            <a:br/>
            <a:r>
              <a:t>Explanations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40" y="4023360"/>
            <a:ext cx="1143000" cy="27432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Correct AND clearly</a:t>
            </a:r>
            <a:br/>
            <a:r>
              <a:t>explained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LangGraph-Powered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11430000" cy="594360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🔀  LangGraph StateGraph orchestrates the ENTIRE system — every stage, every decision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926080"/>
            <a:ext cx="1188720" cy="1188720"/>
          </a:xfrm>
          <a:prstGeom prst="ellipse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206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Student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37360" y="3291840"/>
            <a:ext cx="731520" cy="36576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1874519"/>
            <a:ext cx="9692640" cy="3977639"/>
          </a:xfrm>
          <a:prstGeom prst="roundRect">
            <a:avLst>
              <a:gd name="adj" fmla="val 3000"/>
            </a:avLst>
          </a:prstGeom>
          <a:solidFill>
            <a:srgbClr val="1E1E38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0320" y="2011680"/>
            <a:ext cx="256032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2011680"/>
            <a:ext cx="256032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91840" y="2240280"/>
            <a:ext cx="1097280" cy="10972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Input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Parse uploads</a:t>
            </a:r>
            <a:br/>
            <a:r>
              <a:t>Extract structured data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12080" y="3291840"/>
            <a:ext cx="731520" cy="36576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0" y="2011680"/>
            <a:ext cx="256032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2011680"/>
            <a:ext cx="256032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66560" y="2240280"/>
            <a:ext cx="1097280" cy="10972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Classify, retrieve</a:t>
            </a:r>
            <a:br/>
            <a:r>
              <a:t>Calculate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86800" y="3291840"/>
            <a:ext cx="731520" cy="3657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09760" y="2011680"/>
            <a:ext cx="228600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60" y="2011680"/>
            <a:ext cx="2286000" cy="64008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04120" y="2240280"/>
            <a:ext cx="1097280" cy="109728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474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Answer 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Grounded response</a:t>
            </a:r>
            <a:br/>
            <a:r>
              <a:t>via GPT-4.1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server.py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rag_bot.py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029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rag_bot.py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63FF"/>
                </a:solidFill>
              </a:defRPr>
            </a:pPr>
            <a:r>
              <a:t>LangGraph orchestrated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63FF"/>
                </a:solidFill>
              </a:defRPr>
            </a:pPr>
            <a:r>
              <a:t>LangGraph nodes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5349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63FF"/>
                </a:solidFill>
              </a:defRPr>
            </a:pPr>
            <a:r>
              <a:t>LangGraph node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89788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63FF"/>
                </a:solidFill>
              </a:defRPr>
            </a:pPr>
            <a:r>
              <a:t>▲  LangGraph StateGraph  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LangGraph — The Brain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2FF"/>
                </a:solidFill>
              </a:defRPr>
            </a:pPr>
            <a:r>
              <a:t>Every decision, every data flow, every tool call is orchestrated by a LangGraph StateGraph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920240"/>
            <a:ext cx="2103120" cy="24688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210312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103120"/>
            <a:ext cx="1097280" cy="10972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load_context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033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</a:defRPr>
            </a:pPr>
            <a:r>
              <a:t>Load catalog +</a:t>
            </a:r>
            <a:br/>
            <a:r>
              <a:t>transcript JSON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23160" y="2514600"/>
            <a:ext cx="274320" cy="18288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51760" y="1920240"/>
            <a:ext cx="2103120" cy="24688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920240"/>
            <a:ext cx="21031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54680" y="2103120"/>
            <a:ext cx="1097280" cy="10972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🏷️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918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classify_intent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7033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</a:defRPr>
            </a:pPr>
            <a:r>
              <a:t>Route question to</a:t>
            </a:r>
            <a:br/>
            <a:r>
              <a:t>calc / reason / RAG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00600" y="2514600"/>
            <a:ext cx="27432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1920240"/>
            <a:ext cx="2103120" cy="24688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920240"/>
            <a:ext cx="21031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32120" y="2103120"/>
            <a:ext cx="1097280" cy="10972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2918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retrieve_docs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7033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</a:defRPr>
            </a:pPr>
            <a:r>
              <a:t>Semantic search</a:t>
            </a:r>
            <a:br/>
            <a:r>
              <a:t>over vector KB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78040" y="2514600"/>
            <a:ext cx="274320" cy="18288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06640" y="1920240"/>
            <a:ext cx="2103120" cy="24688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1920240"/>
            <a:ext cx="210312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9560" y="2103120"/>
            <a:ext cx="1097280" cy="109728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2918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calculate_tools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7033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</a:defRPr>
            </a:pPr>
            <a:r>
              <a:t>CGPA, credits,</a:t>
            </a:r>
            <a:br/>
            <a:r>
              <a:t>grad status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555480" y="2514600"/>
            <a:ext cx="274320" cy="18288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84080" y="1920240"/>
            <a:ext cx="2103120" cy="24688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84080" y="1920240"/>
            <a:ext cx="210312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87000" y="2103120"/>
            <a:ext cx="1097280" cy="109728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2918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generate_answer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7033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</a:defRPr>
            </a:pPr>
            <a:r>
              <a:t>Assemble all context</a:t>
            </a:r>
            <a:br/>
            <a:r>
              <a:t>→ GPT-4.1 response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663440"/>
            <a:ext cx="10515600" cy="20116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663440"/>
            <a:ext cx="105156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</a:defRPr>
            </a:pPr>
            <a:r>
              <a:t>🔀  LangGraph Shared State (passed between every node)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303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3218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question — the student's original message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303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53218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catalog_rules — program reqs from URL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742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transcript_record — student data from upload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742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🏷️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intent_route — calc / reasoning / retrieval / hybrid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61813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6199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retrieved_chunks + citations — RAG results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61813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6199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calculation_results — CGPA, credits, grad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63FF"/>
                </a:solidFill>
              </a:defRPr>
            </a:pPr>
            <a:r>
              <a:t>STAGE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Input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45720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</a:defRPr>
            </a:pPr>
            <a:r>
              <a:t>Format-based routing — what you send determines how it's processed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5486400"/>
            <a:ext cx="731520" cy="7315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63FF"/>
                </a:solidFill>
              </a:defRPr>
            </a:pPr>
            <a:r>
              <a:t>URL</a:t>
            </a:r>
          </a:p>
        </p:txBody>
      </p:sp>
      <p:sp>
        <p:nvSpPr>
          <p:cNvPr id="10" name="Oval 9"/>
          <p:cNvSpPr/>
          <p:nvPr/>
        </p:nvSpPr>
        <p:spPr>
          <a:xfrm>
            <a:off x="3383280" y="5486400"/>
            <a:ext cx="731520" cy="7315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PDF</a:t>
            </a:r>
          </a:p>
        </p:txBody>
      </p:sp>
      <p:sp>
        <p:nvSpPr>
          <p:cNvPr id="12" name="Oval 11"/>
          <p:cNvSpPr/>
          <p:nvPr/>
        </p:nvSpPr>
        <p:spPr>
          <a:xfrm>
            <a:off x="5394960" y="548640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</a:defRPr>
            </a:pPr>
            <a:r>
              <a:t>Image</a:t>
            </a:r>
          </a:p>
        </p:txBody>
      </p:sp>
      <p:sp>
        <p:nvSpPr>
          <p:cNvPr id="14" name="Oval 13"/>
          <p:cNvSpPr/>
          <p:nvPr/>
        </p:nvSpPr>
        <p:spPr>
          <a:xfrm>
            <a:off x="7406640" y="5486400"/>
            <a:ext cx="731520" cy="73152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</a:defRPr>
            </a:pPr>
            <a:r>
              <a:t>Text Paste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0" y="5486400"/>
            <a:ext cx="731520" cy="7315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B71"/>
                </a:solidFill>
              </a:defRPr>
            </a:pPr>
            <a:r>
              <a:t>Chat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URL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0" y="411480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catalog_rules.json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URL</a:t>
            </a:r>
            <a:br/>
            <a:r>
              <a:t>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Starts with</a:t>
            </a:r>
            <a:br/>
            <a:r>
              <a:t>http(s)://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316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Scrape</a:t>
            </a:r>
            <a:br/>
            <a:r>
              <a:t>Webpage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HTTP GET with</a:t>
            </a:r>
            <a:br/>
            <a:r>
              <a:t>browser headers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5488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Clean</a:t>
            </a:r>
            <a:br/>
            <a:r>
              <a:t>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Strip tags,</a:t>
            </a:r>
            <a:br/>
            <a:r>
              <a:t>extract text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8660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2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9560" y="17373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GPT-4.1</a:t>
            </a:r>
            <a:br/>
            <a:r>
              <a:t>Extract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Structured output</a:t>
            </a:r>
            <a:br/>
            <a:r>
              <a:t>w/ JSON schema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1832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4128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Save</a:t>
            </a:r>
            <a:br/>
            <a:r>
              <a:t>to Disk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catalog_rules.json</a:t>
            </a:r>
            <a:br/>
            <a:r>
              <a:t>in extracted_data/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URL —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5720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💡  Real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38912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https://catalogs.nmsu.edu/nmsu/</a:t>
            </a:r>
            <a:br/>
            <a:r>
              <a:t>  arts-sciences/computer-science/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86400" y="3200400"/>
            <a:ext cx="548640" cy="27432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2377440"/>
            <a:ext cx="4846320" cy="347472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{ "program_name": "Computer Science",</a:t>
            </a:r>
            <a:br/>
            <a:r>
              <a:t>  "required_credits": 120,</a:t>
            </a:r>
            <a:br/>
            <a:r>
              <a:t>  "minimum_cgpa_for_graduation": 2.0,</a:t>
            </a:r>
            <a:br/>
            <a:r>
              <a:t>  "tracks": [</a:t>
            </a:r>
            <a:br/>
            <a:r>
              <a:t>    {"track_name": "AI",</a:t>
            </a:r>
            <a:br/>
            <a:r>
              <a:t>     "required_credits": 15, "notes": "..."}],</a:t>
            </a:r>
            <a:br/>
            <a:r>
              <a:t>  "required_courses": [</a:t>
            </a:r>
            <a:br/>
            <a:r>
              <a:t>    {"course_name": "CS 172",</a:t>
            </a:r>
            <a:br/>
            <a:r>
              <a:t>     "credits": 4, "category": "Core"}],</a:t>
            </a:r>
            <a:br/>
            <a:r>
              <a:t>  "elective_credit_requirement": 12,</a:t>
            </a:r>
            <a:br/>
            <a:r>
              <a:t>  "exceptions_and_notes":</a:t>
            </a:r>
            <a:br/>
            <a:r>
              <a:t>    ["B.S. is ABET accredited"],</a:t>
            </a:r>
            <a:br/>
            <a:r>
              <a:t>  "source_url": "https://catalogs..."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PDF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411480"/>
            <a:ext cx="2926080" cy="502920"/>
          </a:xfrm>
          <a:prstGeom prst="roundRect">
            <a:avLst>
              <a:gd name="adj" fmla="val 1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transcript_record.json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373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File</a:t>
            </a:r>
            <a:br/>
            <a: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User uploads</a:t>
            </a:r>
            <a:br/>
            <a:r>
              <a:t>a PDF file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316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17373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Save</a:t>
            </a:r>
            <a:br/>
            <a:r>
              <a:t>Temp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Write to temp</a:t>
            </a:r>
            <a:br/>
            <a:r>
              <a:t>directory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5488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17373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PDFReader</a:t>
            </a:r>
            <a:br/>
            <a:r>
              <a:t>Extract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Extract raw text</a:t>
            </a:r>
            <a:br/>
            <a:r>
              <a:t>from PDF pages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8660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2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956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GPT-4.1</a:t>
            </a:r>
            <a:br/>
            <a:r>
              <a:t>Parse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Structured output</a:t>
            </a:r>
            <a:br/>
            <a:r>
              <a:t>w/ JSON schema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1832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41280" y="17373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Save</a:t>
            </a:r>
            <a:br/>
            <a:r>
              <a:t>to Disk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transcript_record.json</a:t>
            </a:r>
            <a:br/>
            <a:r>
              <a:t>in extracted_data/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PDF —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5720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💡  Real Example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38912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9" name="Oval 8"/>
          <p:cNvSpPr/>
          <p:nvPr/>
        </p:nvSpPr>
        <p:spPr>
          <a:xfrm>
            <a:off x="1645920" y="301752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transcript.pdf</a:t>
            </a:r>
            <a:br/>
            <a:r>
              <a:t>(uploaded)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86400" y="3200400"/>
            <a:ext cx="54864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4846320" cy="347472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{ "student_name": "Albert Smith",</a:t>
            </a:r>
            <a:br/>
            <a:r>
              <a:t>  "program": "Computer Science",</a:t>
            </a:r>
            <a:br/>
            <a:r>
              <a:t>  "completed_courses": [</a:t>
            </a:r>
            <a:br/>
            <a:r>
              <a:t>    {"course": "Chemistry",</a:t>
            </a:r>
            <a:br/>
            <a:r>
              <a:t>     "credits": 1, "grade": "A"},</a:t>
            </a:r>
            <a:br/>
            <a:r>
              <a:t>    {"course": "Calculus I",</a:t>
            </a:r>
            <a:br/>
            <a:r>
              <a:t>     "credits": 4, "grade": "B+"},</a:t>
            </a:r>
            <a:br/>
            <a:r>
              <a:t>    ... ]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Image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46320" y="411480"/>
            <a:ext cx="2926080" cy="50292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transcript_record.json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3736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File</a:t>
            </a:r>
            <a:br/>
            <a: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User uploads</a:t>
            </a:r>
            <a:br/>
            <a:r>
              <a:t>an image file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316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173736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Base64</a:t>
            </a:r>
            <a:br/>
            <a:r>
              <a:t>Encode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Convert binary</a:t>
            </a:r>
            <a:br/>
            <a:r>
              <a:t>to base64 string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5488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173736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Build</a:t>
            </a:r>
            <a:br/>
            <a:r>
              <a:t>Data 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Create data URI</a:t>
            </a:r>
            <a:br/>
            <a:r>
              <a:t>for API payload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8660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2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956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GPT-4.1</a:t>
            </a:r>
            <a:br/>
            <a:r>
              <a:t>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Multimodal parse</a:t>
            </a:r>
            <a:br/>
            <a:r>
              <a:t>w/ JSON schema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1832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41280" y="173736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Save</a:t>
            </a:r>
            <a:br/>
            <a:r>
              <a:t>to Disk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transcript_record.json</a:t>
            </a:r>
            <a:br/>
            <a:r>
              <a:t>in extracted_data/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Image —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5720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💡  Real Example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38912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9" name="Oval 8"/>
          <p:cNvSpPr/>
          <p:nvPr/>
        </p:nvSpPr>
        <p:spPr>
          <a:xfrm>
            <a:off x="1645920" y="301752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🖼️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transcript_image.png</a:t>
            </a:r>
            <a:br/>
            <a:r>
              <a:t>(uploaded)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86400" y="3200400"/>
            <a:ext cx="54864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4846320" cy="347472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{ "student_name": "Albert Smith",</a:t>
            </a:r>
            <a:br/>
            <a:r>
              <a:t>  "program": "Computer Science",</a:t>
            </a:r>
            <a:br/>
            <a:r>
              <a:t>  "completed_courses": [</a:t>
            </a:r>
            <a:br/>
            <a:r>
              <a:t>    {"course": "Chemistry",</a:t>
            </a:r>
            <a:br/>
            <a:r>
              <a:t>     "credits": 1, "grade": "A"},</a:t>
            </a:r>
            <a:br/>
            <a:r>
              <a:t>    {"course": "Calculus I",</a:t>
            </a:r>
            <a:br/>
            <a:r>
              <a:t>     "credits": 4, "grade": "B+"},</a:t>
            </a:r>
            <a:br/>
            <a:r>
              <a:t>    ... ]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Long Text Paste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2926080" cy="50292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transcript_record.json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754880" cy="32004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</a:defRPr>
            </a:pPr>
            <a:r>
              <a:t>🔍  Detection Heuristic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377440"/>
            <a:ext cx="502920" cy="5029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50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len(message) &gt; 300 characters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108960"/>
            <a:ext cx="502920" cy="5029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182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Contains "\n" (newline)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84048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9136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Treated as pasted transcript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⚡  Processing Flow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Raw Text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8660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0" y="2560320"/>
            <a:ext cx="822960" cy="8229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GPT-4.1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6676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JSON Schema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4692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Save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Long Text Paste —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34747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💡 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"Honors Eng 9: World Lit  A  1\nAlg II/Trig  A  2\nHonors Precalculus  A  1\n..."  (450 chars)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69280" y="3200400"/>
            <a:ext cx="54864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377440"/>
            <a:ext cx="466344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B71"/>
                </a:solidFill>
              </a:defRPr>
            </a:pPr>
            <a:r>
              <a:t>{ "student_name": "Albert Smith",</a:t>
            </a:r>
            <a:br/>
            <a:r>
              <a:t>  "program": null,</a:t>
            </a:r>
            <a:br/>
            <a:r>
              <a:t>  "completed_courses": [</a:t>
            </a:r>
            <a:br/>
            <a:r>
              <a:t>    {"course": "Honors Eng 9",</a:t>
            </a:r>
            <a:br/>
            <a:r>
              <a:t>     "credits": 1, "grade": "A"},</a:t>
            </a:r>
            <a:br/>
            <a:r>
              <a:t>    {"course": "Alg II/Trig",</a:t>
            </a:r>
            <a:br/>
            <a:r>
              <a:t>     "credits": 2, "grade": "A"},</a:t>
            </a:r>
            <a:br/>
            <a:r>
              <a:t>    ... ]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303520"/>
            <a:ext cx="91440" cy="10972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548640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53212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Design Note: Format heuristic, not content analysis.</a:t>
            </a:r>
            <a:br/>
            <a:r>
              <a:t>Any long message with newlines is treated as a transcript.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Short Text (Chat)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direct to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7548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✅  What Qualifies?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37744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414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No file attached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01752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81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NOT a URL (no http(s)://)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65760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216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≤ 300 chars OR no newlines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⚡  What Happens?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2468880"/>
            <a:ext cx="914400" cy="91440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29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Message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35240" y="2743200"/>
            <a:ext cx="64008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No extraction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Passed directly to</a:t>
            </a:r>
            <a:br/>
            <a:r>
              <a:t>LangGraph pipeline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Short Text —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8463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💬  Example Questions → Pipeline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AA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888AA"/>
                </a:solidFill>
              </a:defRPr>
            </a:pPr>
            <a:r>
              <a:t>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AA"/>
                </a:solidFill>
              </a:defRPr>
            </a:pPr>
            <a:r>
              <a:t>What Happens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10058400" cy="18288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017520"/>
            <a:ext cx="548640" cy="5486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"What is my CGPA?"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309067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calculation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97880" y="312724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Runs CGPA calculator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84048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"Courses for AI track?"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91363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hybrid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97880" y="395020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RAG + catalog lookup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663440"/>
            <a:ext cx="548640" cy="5486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"Explain the MAP program"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473659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retrieval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897880" y="477316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Searches RAG KB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486400"/>
            <a:ext cx="548640" cy="5486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"Hello!"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555955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reasoning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897880" y="559612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577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General response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</a:defRPr>
            </a:pPr>
            <a:r>
              <a:t>STAGE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Data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4572000"/>
            <a:ext cx="265176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</a:defRPr>
            </a:pPr>
            <a:r>
              <a:t>Linear LangGraph pipeline — all nodes run in sequence</a:t>
            </a:r>
          </a:p>
        </p:txBody>
      </p:sp>
      <p:sp>
        <p:nvSpPr>
          <p:cNvPr id="8" name="Oval 7"/>
          <p:cNvSpPr/>
          <p:nvPr/>
        </p:nvSpPr>
        <p:spPr>
          <a:xfrm>
            <a:off x="1920240" y="5486400"/>
            <a:ext cx="731520" cy="7315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63FF"/>
                </a:solidFill>
              </a:defRPr>
            </a:pPr>
            <a:r>
              <a:t>Load Context</a:t>
            </a:r>
          </a:p>
        </p:txBody>
      </p:sp>
      <p:sp>
        <p:nvSpPr>
          <p:cNvPr id="10" name="Oval 9"/>
          <p:cNvSpPr/>
          <p:nvPr/>
        </p:nvSpPr>
        <p:spPr>
          <a:xfrm>
            <a:off x="4297680" y="5486400"/>
            <a:ext cx="731520" cy="7315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🏷️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Classify Intent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548640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</a:defRPr>
            </a:pPr>
            <a:r>
              <a:t>Retrieve Docs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5486400"/>
            <a:ext cx="731520" cy="7315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B71"/>
                </a:solidFill>
              </a:defRPr>
            </a:pPr>
            <a:r>
              <a:t>Calculate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Node: load_context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loads structured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📂  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95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Reads catalog_rules.json from disk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8529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Reads transcript_record.json from disk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101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These were saved during Stage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7673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Injects both into pipeline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50292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691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</a:defRPr>
            </a:pPr>
            <a:r>
              <a:t>📋  catalog_rules.json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03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Program requirements, tracks, courses,</a:t>
            </a:r>
            <a:br/>
            <a:r>
              <a:t>graduation rules — from URL scraping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0292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📄  transcript_record.json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74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Student name, program, completed courses</a:t>
            </a:r>
            <a:br/>
            <a:r>
              <a:t>with grades — from PDF/image/text upload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63440"/>
            <a:ext cx="10515600" cy="192024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66344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</a:defRPr>
            </a:pPr>
            <a:r>
              <a:t>⚡  Output → Pipeline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2578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{ ...state,</a:t>
            </a:r>
            <a:br/>
            <a:r>
              <a:t>  "catalog_rules": { "program_name": "...", "required_credits": 120, "tracks": [...], ... },</a:t>
            </a:r>
            <a:br/>
            <a:r>
              <a:t>  "transcript_record": { "student_name": "...", "program": "...", "completed_courses": [...] } 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Node: classify_intent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3200400" cy="502920"/>
          </a:xfrm>
          <a:prstGeom prst="roundRect">
            <a:avLst>
              <a:gd name="adj" fmla="val 1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keyword-based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</a:defRPr>
            </a:pPr>
            <a:r>
              <a:t>🧮  Calculation Keywords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"cgpa"  "gpa"  "credit"  "credits"</a:t>
            </a:r>
            <a:br/>
            <a:r>
              <a:t>"remaining"  "left"  "how many more"</a:t>
            </a:r>
            <a:br/>
            <a:r>
              <a:t>"graduate"  "eligible"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💡  Reasoning Keywords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"should i"  "which"  "recommend"</a:t>
            </a:r>
            <a:br/>
            <a:r>
              <a:t>"difference"  "compare"  "why"</a:t>
            </a:r>
            <a:br/>
            <a:r>
              <a:t>"advise"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51560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</a:defRPr>
            </a:pPr>
            <a:r>
              <a:t>🔀  Routing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Both 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846320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hybrid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440680" y="4892040"/>
            <a:ext cx="36576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RAG + calculators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276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Only calc 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527608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calculation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440680" y="5321808"/>
            <a:ext cx="36576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5276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Skip RAG, run calculators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7058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Only reasoning match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5705856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reasoning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40680" y="5751576"/>
            <a:ext cx="36576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57058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RAG search, skip calculators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1356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Neither match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6135624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retrieval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440680" y="6181344"/>
            <a:ext cx="36576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61356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RAG search, skip calculators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classify_intent —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50292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888AA"/>
                </a:solidFill>
              </a:defRPr>
            </a:pPr>
            <a: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888AA"/>
                </a:solidFill>
              </a:defRPr>
            </a:pPr>
            <a:r>
              <a:t>Calc?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888AA"/>
                </a:solidFill>
              </a:defRPr>
            </a:pPr>
            <a:r>
              <a:t>Reason?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888AA"/>
                </a:solidFill>
              </a:defRPr>
            </a:pPr>
            <a:r>
              <a:t>Route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148840"/>
            <a:ext cx="9875520" cy="18288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"What is my CGPA?"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9572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calculation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"How many credits remaining?"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94436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calculation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"Should I take the AI track?"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49300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"Which courses should I take?"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04164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"Should I graduate now or take more credits?"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59028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hybrid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"Explain the MAP program"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120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20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513892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retrieval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"Hello!"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669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669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568756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retrieval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Node: retrieve_docs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0" y="411480"/>
            <a:ext cx="3657600" cy="50292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RAG semantic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91440" cy="7315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645920"/>
            <a:ext cx="502920" cy="50292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⏭️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691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Skipped entirely if route == "calculation" — returns empty chunks and citations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56032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69748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User's original</a:t>
            </a:r>
            <a:br/>
            <a:r>
              <a:t>question text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23160" y="3611880"/>
            <a:ext cx="27432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97480" y="256032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46120" y="269748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Embed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160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OpenAI embeddings</a:t>
            </a:r>
            <a:br/>
            <a:r>
              <a:t>(default model)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54880" y="3611880"/>
            <a:ext cx="27432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0" y="256032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77840" y="269748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Cosine</a:t>
            </a:r>
            <a:br/>
            <a:r>
              <a:t>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160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Compare against</a:t>
            </a:r>
            <a:br/>
            <a:r>
              <a:t>all doc chunks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86600" y="3611880"/>
            <a:ext cx="27432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0920" y="256032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9560" y="269748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Top 4</a:t>
            </a:r>
            <a:br/>
            <a:r>
              <a:t>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160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similarity_top_k=4</a:t>
            </a:r>
            <a:br/>
            <a:r>
              <a:t>most relevant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418320" y="3611880"/>
            <a:ext cx="27432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92640" y="256032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41280" y="269748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✂️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Extract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4160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Text[:1200] +</a:t>
            </a:r>
            <a:br/>
            <a:r>
              <a:t>source filename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394960"/>
            <a:ext cx="10515600" cy="11887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39496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</a:defRPr>
            </a:pPr>
            <a:r>
              <a:t>⚡ 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8521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"retrieved_chunks": ["chunk text up to 1200 chars...", ...]    "citations": ["file_name_1.txt", "file_name_2.pdf"]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RAG Knowledge Base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0" y="411480"/>
            <a:ext cx="3200400" cy="50292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built once at startup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🏗️  How the Index Is Built (build_index)</a:t>
            </a:r>
          </a:p>
        </p:txBody>
      </p:sp>
      <p:sp>
        <p:nvSpPr>
          <p:cNvPr id="7" name="Oval 6"/>
          <p:cNvSpPr/>
          <p:nvPr/>
        </p:nvSpPr>
        <p:spPr>
          <a:xfrm>
            <a:off x="1234440" y="228600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Scan</a:t>
            </a:r>
            <a:br/>
            <a:r>
              <a:t>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</a:defRPr>
            </a:pPr>
            <a:r>
              <a:t>processed_data/</a:t>
            </a:r>
            <a:br/>
            <a:r>
              <a:t>.pdf .txt .md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31720" y="2468880"/>
            <a:ext cx="274320" cy="164592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28600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Read &amp;</a:t>
            </a:r>
            <a:br/>
            <a:r>
              <a:t>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</a:defRPr>
            </a:pPr>
            <a:r>
              <a:t>SimpleDirectoryReader</a:t>
            </a:r>
            <a:br/>
            <a:r>
              <a:t>+ PDFReader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43400" y="2468880"/>
            <a:ext cx="274320" cy="164592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57800" y="228600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✂️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Chunk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</a:defRPr>
            </a:pPr>
            <a:r>
              <a:t>Split docs into</a:t>
            </a:r>
            <a:br/>
            <a:r>
              <a:t>smaller pieces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355080" y="2468880"/>
            <a:ext cx="274320" cy="164592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69480" y="228600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Embed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</a:defRPr>
            </a:pPr>
            <a:r>
              <a:t>OpenAI embeddings</a:t>
            </a:r>
            <a:br/>
            <a:r>
              <a:t>for each chunk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366760" y="2468880"/>
            <a:ext cx="274320" cy="164592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81160" y="228600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🗄️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</a:defRPr>
            </a:pPr>
            <a:r>
              <a:t>In-memory</a:t>
            </a:r>
            <a:br/>
            <a:r>
              <a:t>vector index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114800"/>
            <a:ext cx="502920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297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</a:defRPr>
            </a:pPr>
            <a:r>
              <a:t>📚  Contents (processed_data/)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8646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Course lecture slides (CS 4440/5440)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276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Prompt engineering papers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56875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Video lecture transcripts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6080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6099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AI/ML reference documents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114800"/>
            <a:ext cx="502920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297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</a:defRPr>
            </a:pPr>
            <a:r>
              <a:t>🔑  Key Properties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8646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Static — never modified by uploads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276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In-memory — rebuilt on each restart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669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56875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similarity_top_k=4 per query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6080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✂️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6099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Chunks capped at 1200 chars each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Node: calculate_tools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0" y="411480"/>
            <a:ext cx="3200400" cy="502920"/>
          </a:xfrm>
          <a:prstGeom prst="roundRect">
            <a:avLst>
              <a:gd name="adj" fmla="val 10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phrase-matched calcs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474720" cy="4846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47472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5920" y="1783080"/>
            <a:ext cx="1097280" cy="10972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CGPA Calculator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474720"/>
            <a:ext cx="164592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3657600"/>
            <a:ext cx="3200400" cy="822960"/>
          </a:xfrm>
          <a:prstGeom prst="roundRect">
            <a:avLst>
              <a:gd name="adj" fmla="val 4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63FF"/>
                </a:solidFill>
              </a:defRPr>
            </a:pPr>
            <a:r>
              <a:t>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"my cgpa" / "my gpa"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634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For each course:</a:t>
            </a:r>
            <a:br/>
            <a:r>
              <a:t>  quality_pts = credits × grade_pts</a:t>
            </a:r>
            <a:br/>
            <a:r>
              <a:t>CGPA = total_quality / total_credits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54480"/>
            <a:ext cx="3474720" cy="4846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347472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1783080"/>
            <a:ext cx="1097280" cy="10972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Remaining Credits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3474720"/>
            <a:ext cx="164592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34840" y="3657600"/>
            <a:ext cx="3200400" cy="822960"/>
          </a:xfrm>
          <a:prstGeom prst="roundRect">
            <a:avLst>
              <a:gd name="adj" fmla="val 4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</a:defRPr>
            </a:pPr>
            <a:r>
              <a:t>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"remaining credits" / "credits left"</a:t>
            </a:r>
            <a:br/>
            <a:r>
              <a:t>/ "how many more credits"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6634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remaining = required_credits</a:t>
            </a:r>
            <a:br/>
            <a:r>
              <a:t>  - sum(completed credits)</a:t>
            </a:r>
            <a:br/>
            <a:r>
              <a:t>Uses catalog_rules.required_credits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554480"/>
            <a:ext cx="3474720" cy="4846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554480"/>
            <a:ext cx="347472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0" y="1783080"/>
            <a:ext cx="1097280" cy="10972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Graduation 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3474720"/>
            <a:ext cx="164592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75320" y="3657600"/>
            <a:ext cx="3200400" cy="822960"/>
          </a:xfrm>
          <a:prstGeom prst="roundRect">
            <a:avLst>
              <a:gd name="adj" fmla="val 4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</a:defRPr>
            </a:pPr>
            <a:r>
              <a:t>TRIGGER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"can i graduate" /</a:t>
            </a:r>
            <a:br/>
            <a:r>
              <a:t>"am i eligible to graduate"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6634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Checks: remaining_credits &lt;= 0</a:t>
            </a:r>
            <a:br/>
            <a:r>
              <a:t>  AND cgpa &gt;= minimum_cgpa</a:t>
            </a:r>
            <a:br/>
            <a:r>
              <a:t>Returns eligible: true/false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calculate_tools — Output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15544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</a:defRPr>
            </a:pPr>
            <a:r>
              <a:t>🧮  CGPA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{ "type": "cgpa", "total_credits": 45.0, "total_quality_points": 162.0, "cgpa": 3.6,</a:t>
            </a:r>
            <a:br/>
            <a:r>
              <a:t>  "breakdown": [{"course": "Chemistry", "credits": 1, "grade": "A", "grade_points": 4.0, "quality_points": 4.0}, ...]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105156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📊  Remaining Credits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{ "type": "remaining_credits", "completed_credits": 45.0, "required_credits": 120.0, "remaining_credits": 75.0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515600" cy="15544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5029200"/>
            <a:ext cx="105156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</a:defRPr>
            </a:pPr>
            <a:r>
              <a:t>🎓  Graduation Status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778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{ "type": "graduation_status", "cgpa": 3.6, "minimum_cgpa_for_graduation": 2.0,</a:t>
            </a:r>
            <a:br/>
            <a:r>
              <a:t>  "completed_credits": 45.0, "required_credits": 120.0, "remaining_credits": 75.0, "eligible": false 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Two Separate Data Stores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51760" y="1783080"/>
            <a:ext cx="1097280" cy="10972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🗄️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</a:defRPr>
            </a:pPr>
            <a:r>
              <a:t>Vector Index (RAG KB)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474720"/>
            <a:ext cx="256032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216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Built from processed_data/ at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1788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Course lectures, papers, transcripts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6360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Embedded via OpenAI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0932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Queried by semantic similarity (top 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5504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Static — uploads don't modify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989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60076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In-memory — rebuilt on each restart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55448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554480"/>
            <a:ext cx="512064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0" y="1783080"/>
            <a:ext cx="1097280" cy="10972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63FF"/>
                </a:solidFill>
              </a:defRPr>
            </a:pPr>
            <a:r>
              <a:t>Structured JSON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474720"/>
            <a:ext cx="256032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7216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catalog_rules.json — from URLs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1788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transcript_record.json — from uploads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6360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Extracted at runtime by GPT-4.1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♻️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0932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Overwritten each time (single-user)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5504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Used by: calculators + answer 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989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60076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Persisted in extracted_data/ dir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Stage 3: Answer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5603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600200"/>
            <a:ext cx="1005840" cy="10058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RAG Chunks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Semantic search</a:t>
            </a:r>
            <a:br/>
            <a:r>
              <a:t>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63040"/>
            <a:ext cx="256032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60020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Catalog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Program rules</a:t>
            </a:r>
            <a:br/>
            <a:r>
              <a:t>&amp;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25603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6600" y="1600200"/>
            <a:ext cx="1005840" cy="10058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Transcript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Student record</a:t>
            </a:r>
            <a:br/>
            <a:r>
              <a:t>&amp; grades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463040"/>
            <a:ext cx="256032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66960" y="1600200"/>
            <a:ext cx="1005840" cy="10058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Calc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CGPA, credits,</a:t>
            </a:r>
            <a:br/>
            <a:r>
              <a:t>grad status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28016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416052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992124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371600" y="4206240"/>
            <a:ext cx="9418320" cy="1280160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4343400"/>
            <a:ext cx="1005840" cy="100584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GPT-4.1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FF"/>
                </a:solidFill>
              </a:defRPr>
            </a:pPr>
            <a:r>
              <a:t>Assembles all context into one prompt → generates grounded, accurate response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852160" y="5532120"/>
            <a:ext cx="274320" cy="457200"/>
          </a:xfrm>
          <a:prstGeom prst="down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0" y="603504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✨  Student gets a grounded, accurate answer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91440" cy="8686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572768"/>
            <a:ext cx="640080" cy="6400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45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00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45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Controls multi-stage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91440" cy="868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2624328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974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GPT-4.1 (OpenAI)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697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Extraction &amp; answer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91440" cy="868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" y="3675888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749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703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Vector Index +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749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Retrieves knowledge chunks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1772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617720"/>
            <a:ext cx="91440" cy="86868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7280" y="4727448"/>
            <a:ext cx="640080" cy="64008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800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54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800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REST API for uploads &amp; chat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66928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669280"/>
            <a:ext cx="91440" cy="8686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7280" y="5779008"/>
            <a:ext cx="640080" cy="64008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🖥️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852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806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Web Interface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852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Chat UI for student interaction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Key Design Characteristics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80" y="164592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LangGraph Controlled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Entire system orchestrated</a:t>
            </a:r>
            <a:br/>
            <a:r>
              <a:t>by a LangGraph StateGraph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23560" y="1645920"/>
            <a:ext cx="1005840" cy="10058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Format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Input type determines path</a:t>
            </a:r>
            <a:br/>
            <a:r>
              <a:t>No content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64040" y="1645920"/>
            <a:ext cx="1005840" cy="10058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🏷️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Keyword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Substring matching</a:t>
            </a:r>
            <a:br/>
            <a:r>
              <a:t>Not LLM-based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83080" y="4251960"/>
            <a:ext cx="1005840" cy="10058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Static RAG 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Built once at startup</a:t>
            </a:r>
            <a:br/>
            <a:r>
              <a:t>Uploads don't extend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23560" y="4251960"/>
            <a:ext cx="1005840" cy="10058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Single-User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One transcript + catalog</a:t>
            </a:r>
            <a:br/>
            <a:r>
              <a:t>Each upload overwrites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64040" y="425196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Grounded Answers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RAG + structured data</a:t>
            </a:r>
            <a:br/>
            <a:r>
              <a:t>+ calcs = less hallucination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Project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18320" cy="5029200"/>
          </a:xfrm>
          <a:prstGeom prst="roundRect">
            <a:avLst>
              <a:gd name="adj" fmla="val 4000"/>
            </a:avLst>
          </a:prstGeom>
          <a:solidFill>
            <a:srgbClr val="0A0A0A"/>
          </a:solidFill>
          <a:ln w="1270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463040"/>
            <a:ext cx="9418320" cy="59436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1581912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4520" y="1581912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48840" y="1581912"/>
            <a:ext cx="164592" cy="164592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5361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Smart Chat Bot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572768"/>
            <a:ext cx="1097280" cy="347472"/>
          </a:xfrm>
          <a:prstGeom prst="roundRect">
            <a:avLst>
              <a:gd name="adj" fmla="val 10000"/>
            </a:avLst>
          </a:prstGeom>
          <a:solidFill>
            <a:srgbClr val="272745"/>
          </a:solidFill>
          <a:ln w="1270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AA"/>
                </a:solidFill>
              </a:defRPr>
            </a:pPr>
            <a:r>
              <a:t>Clear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743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How can I help with your academics?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747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</a:defRPr>
            </a:pPr>
            <a:r>
              <a:t>Type a question, paste a program catalog URL, or upload</a:t>
            </a:r>
            <a:br/>
            <a:r>
              <a:t>a transcript file with the + button.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120640"/>
            <a:ext cx="6400800" cy="594360"/>
          </a:xfrm>
          <a:prstGeom prst="roundRect">
            <a:avLst>
              <a:gd name="adj" fmla="val 15000"/>
            </a:avLst>
          </a:prstGeom>
          <a:solidFill>
            <a:srgbClr val="2F2F2F"/>
          </a:solidFill>
          <a:ln w="12700">
            <a:solidFill>
              <a:srgbClr val="4A4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80360" y="5193792"/>
            <a:ext cx="457200" cy="457200"/>
          </a:xfrm>
          <a:prstGeom prst="ellipse">
            <a:avLst/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8888AA"/>
                </a:solidFill>
              </a:defRPr>
            </a:pPr>
            <a: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2395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</a:defRPr>
            </a:pPr>
            <a:r>
              <a:t>Ask anything, paste a URL, or upload a file...</a:t>
            </a:r>
          </a:p>
        </p:txBody>
      </p:sp>
      <p:sp>
        <p:nvSpPr>
          <p:cNvPr id="16" name="Oval 15"/>
          <p:cNvSpPr/>
          <p:nvPr/>
        </p:nvSpPr>
        <p:spPr>
          <a:xfrm>
            <a:off x="8549640" y="5193792"/>
            <a:ext cx="457200" cy="45720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18288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</a:defRPr>
            </a:pPr>
            <a:r>
              <a:t>📎 Upload files</a:t>
            </a:r>
            <a:br/>
            <a:r>
              <a:t>(PDF, images)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2918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</a:defRPr>
            </a:pPr>
            <a:r>
              <a:t>🔗 Paste catalog URLs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4754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B71"/>
                </a:solidFill>
              </a:defRPr>
            </a:pPr>
            <a:r>
              <a:t>💬 Ask questions</a:t>
            </a:r>
            <a:br/>
            <a:r>
              <a:t>in natural language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Interface — Example Conversation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6858000" cy="5029200"/>
          </a:xfrm>
          <a:prstGeom prst="roundRect">
            <a:avLst>
              <a:gd name="adj" fmla="val 4000"/>
            </a:avLst>
          </a:prstGeom>
          <a:solidFill>
            <a:srgbClr val="0A0A0A"/>
          </a:solidFill>
          <a:ln w="1270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463040"/>
            <a:ext cx="6858000" cy="4572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481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Smart Chat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2331720"/>
            <a:ext cx="5943600" cy="502920"/>
          </a:xfrm>
          <a:prstGeom prst="roundRect">
            <a:avLst>
              <a:gd name="adj" fmla="val 8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https://catalogs.nmsu.edu/nmsu/arts-sciences/computer-science/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3200400"/>
            <a:ext cx="5943600" cy="640080"/>
          </a:xfrm>
          <a:prstGeom prst="roundRect">
            <a:avLst>
              <a:gd name="adj" fmla="val 8000"/>
            </a:avLst>
          </a:prstGeom>
          <a:solidFill>
            <a:srgbClr val="272745"/>
          </a:solidFill>
          <a:ln w="12700">
            <a:solidFill>
              <a:srgbClr val="2A2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BBBBCC"/>
                </a:solidFill>
              </a:defRPr>
            </a:pPr>
            <a:r>
              <a:t>I've extracted the catalog rules for Computer Science. Found 120 required credits, AI/Cybersecurity tracks, and 45 required courses.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9776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You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4206240"/>
            <a:ext cx="5943600" cy="411480"/>
          </a:xfrm>
          <a:prstGeom prst="roundRect">
            <a:avLst>
              <a:gd name="adj" fmla="val 8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What is my CGPA?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Assistant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4983480"/>
            <a:ext cx="5943600" cy="640080"/>
          </a:xfrm>
          <a:prstGeom prst="roundRect">
            <a:avLst>
              <a:gd name="adj" fmla="val 8000"/>
            </a:avLst>
          </a:prstGeom>
          <a:solidFill>
            <a:srgbClr val="272745"/>
          </a:solidFill>
          <a:ln w="12700">
            <a:solidFill>
              <a:srgbClr val="2A2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BBBBCC"/>
                </a:solidFill>
              </a:defRPr>
            </a:pPr>
            <a:r>
              <a:t>Based on your transcript, your cumulative GPA is 3.60 across 45 completed credits. You have 75 credits remaining to graduate.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</a:defRPr>
            </a:pPr>
            <a:r>
              <a:t>⚡ Behind the Scenes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2057400"/>
            <a:ext cx="182880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3317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63FF"/>
                </a:solidFill>
              </a:defRPr>
            </a:pPr>
            <a:r>
              <a:t>→ URL detected → scrape → GPT-4.1</a:t>
            </a:r>
            <a:br/>
            <a:r>
              <a:t>   extracts catalog_rules.json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200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</a:defRPr>
            </a:pPr>
            <a:r>
              <a:t>→ LangGraph: load_context</a:t>
            </a:r>
            <a:br/>
            <a:r>
              <a:t>   + generate_answer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206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6B6B"/>
                </a:solidFill>
              </a:defRPr>
            </a:pPr>
            <a:r>
              <a:t>→ LangGraph: classify_intent</a:t>
            </a:r>
            <a:br/>
            <a:r>
              <a:t>   routes to "calculation"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9834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ECB71"/>
                </a:solidFill>
              </a:defRPr>
            </a:pPr>
            <a:r>
              <a:t>→ LangGraph: calculate_tools</a:t>
            </a:r>
            <a:br/>
            <a:r>
              <a:t>   runs CGPA calc → generate_answer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-45720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66360" y="1188720"/>
            <a:ext cx="1828800" cy="18288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41148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</a:defRPr>
            </a:pPr>
            <a:r>
              <a:t>Smart Academic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AA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