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" y="-27432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47120" y="576072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12801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6" name="Oval 5"/>
          <p:cNvSpPr/>
          <p:nvPr/>
        </p:nvSpPr>
        <p:spPr>
          <a:xfrm>
            <a:off x="5120640" y="12801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128016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8" name="Oval 7"/>
          <p:cNvSpPr/>
          <p:nvPr/>
        </p:nvSpPr>
        <p:spPr>
          <a:xfrm>
            <a:off x="7680960" y="1280160"/>
            <a:ext cx="914400" cy="91440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Smart Academic Assistant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657600"/>
            <a:ext cx="265176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</a:defRPr>
            </a:pPr>
            <a:r>
              <a:t>A Multi-Tool RAG System for Student Advising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LangGraph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GPT-4.1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25880" y="1965960"/>
            <a:ext cx="1051560" cy="10515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Understanding</a:t>
            </a:r>
            <a:br/>
            <a:r>
              <a:t>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023360"/>
            <a:ext cx="114300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Student questions are messy</a:t>
            </a:r>
            <a:br/>
            <a:r>
              <a:t>and require reasoning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06240" y="1965960"/>
            <a:ext cx="1051560" cy="10515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Processing</a:t>
            </a:r>
            <a:br/>
            <a:r>
              <a:t>Uploads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4023360"/>
            <a:ext cx="11430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PDFs, URLs, text — each</a:t>
            </a:r>
            <a:br/>
            <a:r>
              <a:t>needs different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86600" y="1965960"/>
            <a:ext cx="1051560" cy="10515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Accurate</a:t>
            </a:r>
            <a:br/>
            <a:r>
              <a:t>Knowledge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4023360"/>
            <a:ext cx="114300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LLMs hallucinate — answers</a:t>
            </a:r>
            <a:br/>
            <a:r>
              <a:t>must be grounded in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66960" y="1965960"/>
            <a:ext cx="1051560" cy="105156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Clear</a:t>
            </a:r>
            <a:br/>
            <a:r>
              <a:t>Explanations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40" y="4023360"/>
            <a:ext cx="1143000" cy="27432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Correct AND clearly</a:t>
            </a:r>
            <a:br/>
            <a:r>
              <a:t>explained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Solution: Multi-Tool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926080"/>
            <a:ext cx="1188720" cy="1188720"/>
          </a:xfrm>
          <a:prstGeom prst="ellipse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206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Student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37360" y="3291840"/>
            <a:ext cx="731520" cy="36576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0" y="2011680"/>
            <a:ext cx="2560320" cy="29260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0" y="2011680"/>
            <a:ext cx="256032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91840" y="2240280"/>
            <a:ext cx="1097280" cy="10972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Input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Parse uploads</a:t>
            </a:r>
            <a:br/>
            <a:r>
              <a:t>Extract structured data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12080" y="3291840"/>
            <a:ext cx="731520" cy="36576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2560320" cy="29260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256032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6560" y="2240280"/>
            <a:ext cx="1097280" cy="10972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Classify, retrieve</a:t>
            </a:r>
            <a:br/>
            <a:r>
              <a:t>Calculate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86800" y="3291840"/>
            <a:ext cx="731520" cy="36576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09760" y="2011680"/>
            <a:ext cx="2286000" cy="29260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2011680"/>
            <a:ext cx="2286000" cy="64008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04120" y="2240280"/>
            <a:ext cx="1097280" cy="109728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474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Answer 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Grounded response</a:t>
            </a:r>
            <a:br/>
            <a:r>
              <a:t>via GPT-4.1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server.py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rag_bot.py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5029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rag_bot.py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66360" y="1097280"/>
            <a:ext cx="1828800" cy="18288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63FF"/>
                </a:solidFill>
              </a:defRPr>
            </a:pPr>
            <a:r>
              <a:t>STAGE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Input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4572000"/>
            <a:ext cx="265176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</a:defRPr>
            </a:pPr>
            <a:r>
              <a:t>Format-based routing — what you send determines how it's processed</a:t>
            </a:r>
          </a:p>
        </p:txBody>
      </p:sp>
      <p:sp>
        <p:nvSpPr>
          <p:cNvPr id="8" name="Oval 7"/>
          <p:cNvSpPr/>
          <p:nvPr/>
        </p:nvSpPr>
        <p:spPr>
          <a:xfrm>
            <a:off x="1920240" y="5486400"/>
            <a:ext cx="731520" cy="7315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63FF"/>
                </a:solidFill>
              </a:defRPr>
            </a:pPr>
            <a:r>
              <a:t>URL</a:t>
            </a:r>
          </a:p>
        </p:txBody>
      </p:sp>
      <p:sp>
        <p:nvSpPr>
          <p:cNvPr id="10" name="Oval 9"/>
          <p:cNvSpPr/>
          <p:nvPr/>
        </p:nvSpPr>
        <p:spPr>
          <a:xfrm>
            <a:off x="4297680" y="5486400"/>
            <a:ext cx="731520" cy="7315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PDF / Image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548640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</a:defRPr>
            </a:pPr>
            <a:r>
              <a:t>Text Paste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5486400"/>
            <a:ext cx="731520" cy="7315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B71"/>
                </a:solidFill>
              </a:defRPr>
            </a:pPr>
            <a:r>
              <a:t>Chat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URL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0" y="411480"/>
            <a:ext cx="2286000" cy="50292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catalog_rules.json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URL</a:t>
            </a:r>
            <a:br/>
            <a:r>
              <a:t>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Starts with</a:t>
            </a:r>
            <a:br/>
            <a:r>
              <a:t>http(s)://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2316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Scrape</a:t>
            </a:r>
            <a:br/>
            <a:r>
              <a:t>Webpage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HTTP GET with</a:t>
            </a:r>
            <a:br/>
            <a:r>
              <a:t>browser headers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5488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Clean</a:t>
            </a:r>
            <a:br/>
            <a:r>
              <a:t>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Strip tags,</a:t>
            </a:r>
            <a:br/>
            <a:r>
              <a:t>extract text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8660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092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9560" y="17373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GPT-4.1</a:t>
            </a:r>
            <a:br/>
            <a:r>
              <a:t>Extract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Structured output</a:t>
            </a:r>
            <a:br/>
            <a:r>
              <a:t>w/ JSON schema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1832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4128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Save</a:t>
            </a:r>
            <a:br/>
            <a:r>
              <a:t>to Disk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catalog_rules.json</a:t>
            </a:r>
            <a:br/>
            <a:r>
              <a:t>in extracted_data/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URL —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5720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💡  Real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38912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https://catalogs.nmsu.edu/nmsu/</a:t>
            </a:r>
            <a:br/>
            <a:r>
              <a:t>  arts-sciences/computer-science/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86400" y="3200400"/>
            <a:ext cx="548640" cy="27432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2377440"/>
            <a:ext cx="4846320" cy="347472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{ "program_name": "Computer Science (NMSU)",</a:t>
            </a:r>
            <a:br/>
            <a:r>
              <a:t>  "tracks": ["AI", "Cybersecurity", ...],</a:t>
            </a:r>
            <a:br/>
            <a:r>
              <a:t>  "exceptions_and_notes":</a:t>
            </a:r>
            <a:br/>
            <a:r>
              <a:t>    ["B.S. is ABET accredited", ...]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PDF / Image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0" y="411480"/>
            <a:ext cx="2926080" cy="502920"/>
          </a:xfrm>
          <a:prstGeom prst="roundRect">
            <a:avLst>
              <a:gd name="adj" fmla="val 1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transcript_record.json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1188720" cy="1188720"/>
          </a:xfrm>
          <a:prstGeom prst="ellipse">
            <a:avLst/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File Upload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11680" y="1965960"/>
            <a:ext cx="5486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8686800" cy="16459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1371600"/>
            <a:ext cx="86868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📄  PDF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96596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Save</a:t>
            </a:r>
            <a:br/>
            <a:r>
              <a:t>temp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09160" y="2194560"/>
            <a:ext cx="32004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196596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PDFReader</a:t>
            </a:r>
            <a:br/>
            <a:r>
              <a:t>extract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12280" y="2194560"/>
            <a:ext cx="32004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23760" y="196596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GPT-4.1</a:t>
            </a:r>
            <a:br/>
            <a:r>
              <a:t>parse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15400" y="2194560"/>
            <a:ext cx="32004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0" y="196596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Save</a:t>
            </a:r>
            <a:br/>
            <a:r>
              <a:t>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246120"/>
            <a:ext cx="8686800" cy="16459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246120"/>
            <a:ext cx="86868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</a:defRPr>
            </a:pPr>
            <a:r>
              <a:t>🖼️  Image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384048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Base64</a:t>
            </a:r>
            <a:br/>
            <a:r>
              <a:t>encode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709160" y="4069080"/>
            <a:ext cx="320040" cy="18288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20640" y="384048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Build</a:t>
            </a:r>
            <a:br/>
            <a:r>
              <a:t>data URL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812280" y="4069080"/>
            <a:ext cx="320040" cy="18288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23760" y="384048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GPT-4.1</a:t>
            </a:r>
            <a:br/>
            <a:r>
              <a:t>vision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15400" y="4069080"/>
            <a:ext cx="320040" cy="18288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0" y="384048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Save</a:t>
            </a:r>
            <a:br/>
            <a:r>
              <a:t>JSON</a:t>
            </a:r>
          </a:p>
        </p:txBody>
      </p:sp>
      <p:sp>
        <p:nvSpPr>
          <p:cNvPr id="28" name="Oval 27"/>
          <p:cNvSpPr/>
          <p:nvPr/>
        </p:nvSpPr>
        <p:spPr>
          <a:xfrm>
            <a:off x="2103120" y="2880360"/>
            <a:ext cx="548640" cy="5486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PDF / Image —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5720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💡  Real Example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38912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9" name="Oval 8"/>
          <p:cNvSpPr/>
          <p:nvPr/>
        </p:nvSpPr>
        <p:spPr>
          <a:xfrm>
            <a:off x="1645920" y="301752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🖼️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transcript_image.png</a:t>
            </a:r>
            <a:br/>
            <a:r>
              <a:t>(uploaded)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86400" y="3200400"/>
            <a:ext cx="548640" cy="27432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4846320" cy="347472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{ "student_name": "Albert Smith",</a:t>
            </a:r>
            <a:br/>
            <a:r>
              <a:t>  "completed_courses": [</a:t>
            </a:r>
            <a:br/>
            <a:r>
              <a:t>    {"course": "Chemistry",</a:t>
            </a:r>
            <a:br/>
            <a:r>
              <a:t>     "credits": 1, "grade": "A"},</a:t>
            </a:r>
            <a:br/>
            <a:r>
              <a:t>    ... ]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Long Text Paste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0" y="411480"/>
            <a:ext cx="2926080" cy="50292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transcript_record.json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754880" cy="32004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</a:defRPr>
            </a:pPr>
            <a:r>
              <a:t>🔍  Detection Heuristic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377440"/>
            <a:ext cx="502920" cy="5029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4505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len(message) &gt; 300 characters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3108960"/>
            <a:ext cx="502920" cy="5029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182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Contains "\n" (newline)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384048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9136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Treated as pasted transcript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⚡  Processing Flow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560320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Raw Text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86600" y="2788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0" y="2560320"/>
            <a:ext cx="822960" cy="8229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GPT-4.1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66760" y="2788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0" y="2560320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JSON Schema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46920" y="2788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0" y="2560320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Save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Long Text Paste —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34747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💡 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57200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"Honors Eng 9: World Lit  A  1\nAlg II/Trig  A  2\nHonors Precalculus  A  1\n..."  (450 chars)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669280" y="3200400"/>
            <a:ext cx="548640" cy="27432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377440"/>
            <a:ext cx="466344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B71"/>
                </a:solidFill>
              </a:defRPr>
            </a:pPr>
            <a:r>
              <a:t>{ "student_name": "Albert Smith",</a:t>
            </a:r>
            <a:br/>
            <a:r>
              <a:t>  "completed_courses": [</a:t>
            </a:r>
            <a:br/>
            <a:r>
              <a:t>    {"course": "Honors Eng 9", "grade": "A", "credits": 1},</a:t>
            </a:r>
            <a:br/>
            <a:r>
              <a:t>    {"course": "Alg II/Trig", "grade": "A", "credits": 2},</a:t>
            </a:r>
            <a:br/>
            <a:r>
              <a:t>    ... ]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303520"/>
            <a:ext cx="91440" cy="10972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548640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53212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Design Note: Format heuristic, not content analysis.</a:t>
            </a:r>
            <a:br/>
            <a:r>
              <a:t>Any long message with newlines is treated as a transcript.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Short Text (Chat)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0" y="41148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direct to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7548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✅  What Qualifies?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37744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414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No file attached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301752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81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NOT a URL (no http(s)://)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365760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216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≤ 300 chars OR no newlines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⚡  What Happens?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2468880"/>
            <a:ext cx="914400" cy="91440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29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Message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35240" y="2743200"/>
            <a:ext cx="640080" cy="27432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No extraction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Passed directly to</a:t>
            </a:r>
            <a:br/>
            <a:r>
              <a:t>LangGraph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Short Text —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8463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💬  Example Questions → Pipeline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AA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888AA"/>
                </a:solidFill>
              </a:defRPr>
            </a:pPr>
            <a:r>
              <a:t>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AA"/>
                </a:solidFill>
              </a:defRPr>
            </a:pPr>
            <a:r>
              <a:t>What Happens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10058400" cy="18288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017520"/>
            <a:ext cx="548640" cy="5486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"What is my CGPA?"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309067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calculation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97880" y="312724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Runs CGPA calculator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84048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"Courses for AI track?"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91363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hybrid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97880" y="395020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RAG + catalog lookup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663440"/>
            <a:ext cx="548640" cy="5486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"Explain the MAP program"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473659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retrieval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897880" y="477316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Searches RAG KB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486400"/>
            <a:ext cx="548640" cy="54864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"Hello!"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555955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reasoning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897880" y="559612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577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General response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Stage 2: Data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Linear LangGraph pipeline — all nodes run in sequence, routing changes behavior inside nodes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260604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331720"/>
            <a:ext cx="1051560" cy="10515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load_context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023360"/>
            <a:ext cx="132588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Loads catalog JSON</a:t>
            </a:r>
            <a:br/>
            <a:r>
              <a:t>+ transcript JSON</a:t>
            </a:r>
            <a:br/>
            <a:r>
              <a:t>from disk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17520" y="3474720"/>
            <a:ext cx="36576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210312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103120"/>
            <a:ext cx="260604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69080" y="2331720"/>
            <a:ext cx="1051560" cy="10515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🏷️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classify_intent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4023360"/>
            <a:ext cx="132588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2062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Keyword matching:</a:t>
            </a:r>
            <a:br/>
            <a:r>
              <a:t>calculation | reasoning</a:t>
            </a:r>
            <a:br/>
            <a:r>
              <a:t>retrieval | hybrid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43600" y="3474720"/>
            <a:ext cx="36576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210312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103120"/>
            <a:ext cx="260604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95160" y="2331720"/>
            <a:ext cx="1051560" cy="10515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retrieve_docs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4023360"/>
            <a:ext cx="132588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2062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Semantic search</a:t>
            </a:r>
            <a:br/>
            <a:r>
              <a:t>over vector index</a:t>
            </a:r>
            <a:br/>
            <a:r>
              <a:t>(RAG knowledge base)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69680" y="3474720"/>
            <a:ext cx="36576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0" y="210312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2103120"/>
            <a:ext cx="2606040" cy="64008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21240" y="2331720"/>
            <a:ext cx="1051560" cy="105156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calculate_tools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80" y="4023360"/>
            <a:ext cx="1325880" cy="27432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42062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CGPA calculator</a:t>
            </a:r>
            <a:br/>
            <a:r>
              <a:t>Remaining credits</a:t>
            </a:r>
            <a:br/>
            <a:r>
              <a:t>Graduation status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Two Separate Data Stores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51760" y="1783080"/>
            <a:ext cx="1097280" cy="10972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🗄️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</a:defRPr>
            </a:pPr>
            <a:r>
              <a:t>Vector Index (RAG KB)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474720"/>
            <a:ext cx="256032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703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72160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Built from processed_data/ at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062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22452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Contains general reference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7274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Queried by semantic similarity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2120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2303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Static — uploads don't modify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715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73328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Used by: retrieve_docs node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55448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554480"/>
            <a:ext cx="512064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0" y="1783080"/>
            <a:ext cx="1097280" cy="10972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63FF"/>
                </a:solidFill>
              </a:defRPr>
            </a:pPr>
            <a:r>
              <a:t>Structured 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474720"/>
            <a:ext cx="256032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703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72160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catalog_rules.json — from URLs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2062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22452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transcript_record.json — from uploads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709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7274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Extracted at runtime by GPT-4.1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2120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♻️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2303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Overwritten each time (single-user)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715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73328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Used by: calculators + answer prompt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Stage 3: Answer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5603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1600200"/>
            <a:ext cx="1005840" cy="10058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RAG Chunks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Semantic search</a:t>
            </a:r>
            <a:br/>
            <a:r>
              <a:t>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63040"/>
            <a:ext cx="256032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60020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Catalog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Program rules</a:t>
            </a:r>
            <a:br/>
            <a:r>
              <a:t>&amp; requirements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25603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6600" y="1600200"/>
            <a:ext cx="1005840" cy="10058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Transcript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Student record</a:t>
            </a:r>
            <a:br/>
            <a:r>
              <a:t>&amp; grades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463040"/>
            <a:ext cx="256032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66960" y="1600200"/>
            <a:ext cx="1005840" cy="100584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Calc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CGPA, credits,</a:t>
            </a:r>
            <a:br/>
            <a:r>
              <a:t>grad status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28016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416052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992124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371600" y="4206240"/>
            <a:ext cx="9418320" cy="1280160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4343400"/>
            <a:ext cx="1005840" cy="100584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GPT-4.1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FF"/>
                </a:solidFill>
              </a:defRPr>
            </a:pPr>
            <a:r>
              <a:t>Assembles all context into one prompt → generates grounded, accurate response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852160" y="5532120"/>
            <a:ext cx="274320" cy="457200"/>
          </a:xfrm>
          <a:prstGeom prst="down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0" y="603504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✨  Student gets a grounded, accurate answer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91440" cy="8686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572768"/>
            <a:ext cx="640080" cy="6400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45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00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45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Controls multi-stage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91440" cy="868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2624328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974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GPT-4.1 (OpenAI)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697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Extraction &amp; answer 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91440" cy="868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" y="3675888"/>
            <a:ext cx="640080" cy="6400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749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703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Vector Index +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749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Retrieves knowledge chunks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1772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617720"/>
            <a:ext cx="91440" cy="86868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7280" y="4727448"/>
            <a:ext cx="640080" cy="64008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800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54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800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REST API for uploads &amp; chat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66928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669280"/>
            <a:ext cx="91440" cy="8686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7280" y="5779008"/>
            <a:ext cx="640080" cy="64008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🖥️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852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806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Web Interface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852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Chat UI for student interaction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Key Design Characteristics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80" y="164592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Linear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All nodes run in sequence</a:t>
            </a:r>
            <a:br/>
            <a:r>
              <a:t>Routing changes behavior inside nodes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23560" y="1645920"/>
            <a:ext cx="1005840" cy="10058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Format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Input type determines path</a:t>
            </a:r>
            <a:br/>
            <a:r>
              <a:t>No content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64040" y="1645920"/>
            <a:ext cx="1005840" cy="10058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🏷️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Keyword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Substring matching</a:t>
            </a:r>
            <a:br/>
            <a:r>
              <a:t>Not LLM-based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83080" y="4251960"/>
            <a:ext cx="1005840" cy="100584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Static RAG 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Built once at startup</a:t>
            </a:r>
            <a:br/>
            <a:r>
              <a:t>Uploads don't extend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0690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23560" y="4251960"/>
            <a:ext cx="1005840" cy="10058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Single-User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One transcript + catalog</a:t>
            </a:r>
            <a:br/>
            <a:r>
              <a:t>Each upload overwrites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0690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64040" y="425196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Grounded Answers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RAG + structured data</a:t>
            </a:r>
            <a:br/>
            <a:r>
              <a:t>+ calcs = less hallucination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-45720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66360" y="1188720"/>
            <a:ext cx="1828800" cy="18288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4114800"/>
            <a:ext cx="265176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</a:defRPr>
            </a:pPr>
            <a:r>
              <a:t>Smart Academic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AA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